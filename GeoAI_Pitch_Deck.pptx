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9" r:id="rId10"/>
    <p:sldId id="266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C99"/>
    <a:srgbClr val="0C1C30"/>
    <a:srgbClr val="0D1428"/>
    <a:srgbClr val="08163A"/>
    <a:srgbClr val="054494"/>
    <a:srgbClr val="04408F"/>
    <a:srgbClr val="375B8A"/>
    <a:srgbClr val="9296A0"/>
    <a:srgbClr val="B0B8CC"/>
    <a:srgbClr val="BE7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09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BF5244-13F7-016B-724F-2981ED481A1E}"/>
              </a:ext>
            </a:extLst>
          </p:cNvPr>
          <p:cNvSpPr/>
          <p:nvPr/>
        </p:nvSpPr>
        <p:spPr>
          <a:xfrm>
            <a:off x="473541" y="4741005"/>
            <a:ext cx="11241741" cy="1857813"/>
          </a:xfrm>
          <a:prstGeom prst="rect">
            <a:avLst/>
          </a:prstGeom>
          <a:solidFill>
            <a:srgbClr val="08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ADABE9-6DBE-10C7-AA35-671B09DDD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8824" cy="6833300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0ADF0D6-F158-CDE7-8555-BBA0404329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521305" y="4840813"/>
            <a:ext cx="3339980" cy="18102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36597" y="1421431"/>
            <a:ext cx="439415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6400" b="1" dirty="0">
                <a:solidFill>
                  <a:srgbClr val="4FC3F7"/>
                </a:solidFill>
              </a:rPr>
              <a:t>Orion </a:t>
            </a:r>
            <a:r>
              <a:rPr sz="6400" b="1" dirty="0" err="1">
                <a:solidFill>
                  <a:srgbClr val="4FC3F7"/>
                </a:solidFill>
              </a:rPr>
              <a:t>Geo</a:t>
            </a:r>
            <a:r>
              <a:rPr sz="6400" b="1" dirty="0" err="1">
                <a:solidFill>
                  <a:srgbClr val="FFFFFF"/>
                </a:solidFill>
              </a:rPr>
              <a:t>AI</a:t>
            </a:r>
            <a:endParaRPr sz="64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8245" y="2554692"/>
            <a:ext cx="94457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solidFill>
                  <a:srgbClr val="B0B8CC"/>
                </a:solidFill>
              </a:rPr>
              <a:t>A GIS Expert AI</a:t>
            </a:r>
          </a:p>
          <a:p>
            <a:r>
              <a:rPr lang="en-US" sz="2000" dirty="0">
                <a:solidFill>
                  <a:srgbClr val="B0B8CC"/>
                </a:solidFill>
              </a:rPr>
              <a:t>						- </a:t>
            </a:r>
            <a:r>
              <a:rPr lang="en-US" sz="2000" b="1" i="1" dirty="0">
                <a:solidFill>
                  <a:srgbClr val="00B0F0"/>
                </a:solidFill>
              </a:rPr>
              <a:t>Understands</a:t>
            </a:r>
            <a:r>
              <a:rPr lang="en-US" sz="2000" dirty="0">
                <a:solidFill>
                  <a:srgbClr val="B0B8CC"/>
                </a:solidFill>
              </a:rPr>
              <a:t> Geospatial Data</a:t>
            </a:r>
          </a:p>
          <a:p>
            <a:r>
              <a:rPr lang="en-US" sz="2000" dirty="0">
                <a:solidFill>
                  <a:srgbClr val="B0B8CC"/>
                </a:solidFill>
              </a:rPr>
              <a:t>						- </a:t>
            </a:r>
            <a:r>
              <a:rPr lang="en-US" sz="2000" b="1" i="1" dirty="0">
                <a:solidFill>
                  <a:srgbClr val="00B0F0"/>
                </a:solidFill>
              </a:rPr>
              <a:t>Answers </a:t>
            </a:r>
            <a:r>
              <a:rPr lang="en-US" sz="2000" dirty="0">
                <a:solidFill>
                  <a:srgbClr val="B0B8CC"/>
                </a:solidFill>
              </a:rPr>
              <a:t>Questions </a:t>
            </a:r>
            <a:endParaRPr lang="en-US" sz="2000" b="1" i="1" dirty="0">
              <a:solidFill>
                <a:srgbClr val="00B0F0"/>
              </a:solidFill>
            </a:endParaRPr>
          </a:p>
          <a:p>
            <a:r>
              <a:rPr lang="en-US" sz="2000" b="0" i="0" dirty="0">
                <a:solidFill>
                  <a:srgbClr val="B0B8CC"/>
                </a:solidFill>
              </a:rPr>
              <a:t>						- </a:t>
            </a:r>
            <a:r>
              <a:rPr lang="en-US" sz="2000" b="1" i="1" dirty="0">
                <a:solidFill>
                  <a:srgbClr val="00B0F0"/>
                </a:solidFill>
              </a:rPr>
              <a:t>Does</a:t>
            </a:r>
            <a:r>
              <a:rPr lang="en-US" sz="2000" b="0" i="0" dirty="0">
                <a:solidFill>
                  <a:srgbClr val="B0B8CC"/>
                </a:solidFill>
              </a:rPr>
              <a:t> GIS tasks</a:t>
            </a:r>
            <a:endParaRPr sz="2000" b="0" i="0" dirty="0">
              <a:solidFill>
                <a:srgbClr val="B0B8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8419" y="4319444"/>
            <a:ext cx="944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On-premise AI for geospatial data — </a:t>
            </a:r>
            <a:r>
              <a:rPr lang="en-US" sz="1800" b="1" i="0" dirty="0">
                <a:solidFill>
                  <a:srgbClr val="FFFFFF"/>
                </a:solidFill>
              </a:rPr>
              <a:t>100% Sovereignty, 100% Privacy</a:t>
            </a:r>
            <a:r>
              <a:rPr sz="1800" b="1" i="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24712"/>
            <a:ext cx="109087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AI is here. </a:t>
            </a:r>
            <a:r>
              <a:rPr lang="en-US" sz="3000" b="1" dirty="0">
                <a:solidFill>
                  <a:srgbClr val="FFFFFF"/>
                </a:solidFill>
              </a:rPr>
              <a:t>Clients </a:t>
            </a:r>
            <a:r>
              <a:rPr lang="en-US" sz="3000" b="1" i="0" dirty="0">
                <a:solidFill>
                  <a:srgbClr val="FFFFFF"/>
                </a:solidFill>
              </a:rPr>
              <a:t>are not ready to adopt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81425" y="2492855"/>
            <a:ext cx="5454461" cy="1590438"/>
          </a:xfrm>
          <a:prstGeom prst="rect">
            <a:avLst/>
          </a:prstGeom>
          <a:solidFill>
            <a:srgbClr val="08163A"/>
          </a:solidFill>
          <a:ln w="9525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32466" y="2614904"/>
            <a:ext cx="42245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EF9A9A"/>
                </a:solidFill>
              </a:rPr>
              <a:t>LLMs does not understand location by design</a:t>
            </a:r>
            <a:endParaRPr sz="1600" b="1" i="0" dirty="0">
              <a:solidFill>
                <a:srgbClr val="EF9A9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0" y="2973976"/>
            <a:ext cx="5262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chemeClr val="bg1"/>
                </a:solidFill>
              </a:rPr>
              <a:t>LLMs understand text. They have no concept of spatial relationships. </a:t>
            </a:r>
            <a:br>
              <a:rPr lang="en-US" sz="1600" b="0" i="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LLM by itself is not made for Geospatial use cases. </a:t>
            </a:r>
            <a:endParaRPr sz="1600" b="0" i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2492855"/>
            <a:ext cx="5082539" cy="1646396"/>
          </a:xfrm>
          <a:prstGeom prst="rect">
            <a:avLst/>
          </a:prstGeom>
          <a:solidFill>
            <a:srgbClr val="08163A"/>
          </a:solidFill>
          <a:ln w="9525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1109" y="2610259"/>
            <a:ext cx="4175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9A9A"/>
                </a:solidFill>
              </a:rPr>
              <a:t>Europe moves towards sovereignty</a:t>
            </a:r>
            <a:endParaRPr b="1" i="0" dirty="0">
              <a:solidFill>
                <a:srgbClr val="EF9A9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260" y="3129186"/>
            <a:ext cx="4738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chemeClr val="bg1"/>
                </a:solidFill>
              </a:rPr>
              <a:t>EU AI Act, GDPR, Government Policies and more</a:t>
            </a:r>
            <a:endParaRPr sz="1600" b="0" i="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4253196"/>
            <a:ext cx="5082539" cy="2293882"/>
          </a:xfrm>
          <a:prstGeom prst="rect">
            <a:avLst/>
          </a:prstGeom>
          <a:solidFill>
            <a:srgbClr val="08163A"/>
          </a:solidFill>
          <a:ln w="9525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2207" y="4417788"/>
            <a:ext cx="4505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EF9A9A"/>
                </a:solidFill>
              </a:rPr>
              <a:t>⏳</a:t>
            </a:r>
            <a:r>
              <a:rPr sz="1600" b="1" i="0" dirty="0">
                <a:solidFill>
                  <a:srgbClr val="EF9A9A"/>
                </a:solidFill>
              </a:rPr>
              <a:t>  </a:t>
            </a:r>
            <a:r>
              <a:rPr lang="en-US" sz="1600" b="1" dirty="0">
                <a:solidFill>
                  <a:srgbClr val="EF9A9A"/>
                </a:solidFill>
              </a:rPr>
              <a:t>Geospatial Questions Take Weeks</a:t>
            </a:r>
            <a:endParaRPr sz="1600" b="1" i="0" dirty="0">
              <a:solidFill>
                <a:srgbClr val="EF9A9A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5B21A-2DD6-AB63-617F-F673DF5D12EF}"/>
              </a:ext>
            </a:extLst>
          </p:cNvPr>
          <p:cNvSpPr/>
          <p:nvPr/>
        </p:nvSpPr>
        <p:spPr>
          <a:xfrm>
            <a:off x="6081490" y="4257121"/>
            <a:ext cx="5454460" cy="2279534"/>
          </a:xfrm>
          <a:prstGeom prst="rect">
            <a:avLst/>
          </a:prstGeom>
          <a:solidFill>
            <a:srgbClr val="08163A"/>
          </a:solidFill>
          <a:ln w="9525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9A1BE4-97D4-FC30-78FE-90374D1B52ED}"/>
              </a:ext>
            </a:extLst>
          </p:cNvPr>
          <p:cNvSpPr txBox="1"/>
          <p:nvPr/>
        </p:nvSpPr>
        <p:spPr>
          <a:xfrm>
            <a:off x="6441540" y="4877031"/>
            <a:ext cx="4828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chemeClr val="bg1"/>
                </a:solidFill>
              </a:rPr>
              <a:t>GIS expertise </a:t>
            </a:r>
            <a:r>
              <a:rPr lang="en-US" sz="1600" dirty="0">
                <a:solidFill>
                  <a:schemeClr val="bg1"/>
                </a:solidFill>
              </a:rPr>
              <a:t>exists  only in the head of one expert. The expertise is gone when that expert is gone. 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Training curve for new employees is 3 - 6 months</a:t>
            </a:r>
            <a:endParaRPr sz="1600" b="0" i="0" dirty="0">
              <a:solidFill>
                <a:schemeClr val="bg1"/>
              </a:solidFill>
            </a:endParaRPr>
          </a:p>
        </p:txBody>
      </p:sp>
      <p:pic>
        <p:nvPicPr>
          <p:cNvPr id="23" name="Graphic 22" descr="Repeat with solid fill">
            <a:extLst>
              <a:ext uri="{FF2B5EF4-FFF2-40B4-BE49-F238E27FC236}">
                <a16:creationId xmlns:a16="http://schemas.microsoft.com/office/drawing/2014/main" id="{4EB5D037-F555-4830-A933-3339779FF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9139" y="4390601"/>
            <a:ext cx="306171" cy="3061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484A94C-4D73-1E2A-AB16-31507CBBD7DA}"/>
              </a:ext>
            </a:extLst>
          </p:cNvPr>
          <p:cNvSpPr txBox="1"/>
          <p:nvPr/>
        </p:nvSpPr>
        <p:spPr>
          <a:xfrm>
            <a:off x="6761660" y="4379808"/>
            <a:ext cx="4187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EF9A9A"/>
                </a:solidFill>
              </a:rPr>
              <a:t>  Employee Churn</a:t>
            </a:r>
          </a:p>
        </p:txBody>
      </p:sp>
      <p:pic>
        <p:nvPicPr>
          <p:cNvPr id="21" name="Graphic 20" descr="Route (Two Pins With A Path) with solid fill">
            <a:extLst>
              <a:ext uri="{FF2B5EF4-FFF2-40B4-BE49-F238E27FC236}">
                <a16:creationId xmlns:a16="http://schemas.microsoft.com/office/drawing/2014/main" id="{998B88CD-5A5A-3541-8001-859961157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3262" y="2518055"/>
            <a:ext cx="457200" cy="457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440382-5DDA-DA8F-35AC-9B5447249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10" y="2595809"/>
            <a:ext cx="416075" cy="3141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7476887-DAAA-CA7E-4553-049551B32335}"/>
              </a:ext>
            </a:extLst>
          </p:cNvPr>
          <p:cNvSpPr txBox="1"/>
          <p:nvPr/>
        </p:nvSpPr>
        <p:spPr>
          <a:xfrm>
            <a:off x="919163" y="4731196"/>
            <a:ext cx="48281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chemeClr val="bg1"/>
                </a:solidFill>
              </a:rPr>
              <a:t>To answer a simple question business needs to: 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600" b="0" i="0" dirty="0">
                <a:solidFill>
                  <a:schemeClr val="bg1"/>
                </a:solidFill>
              </a:rPr>
              <a:t>Creates a ticket for the GIS team.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Wait 3 – 4 weeks until GIS team has capacity available.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b="0" i="0" dirty="0">
                <a:solidFill>
                  <a:schemeClr val="bg1"/>
                </a:solidFill>
              </a:rPr>
              <a:t>Wait 1 -3 days so that a GIS analyst can deliver.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Total wait time: 4 -5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9953" y="1054388"/>
            <a:ext cx="109087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Orion: A center of command for all your GIS questions and tasks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874518"/>
            <a:ext cx="11247120" cy="1325881"/>
          </a:xfrm>
          <a:prstGeom prst="rect">
            <a:avLst/>
          </a:prstGeom>
          <a:solidFill>
            <a:srgbClr val="0A223A"/>
          </a:solidFill>
          <a:ln w="9525">
            <a:solidFill>
              <a:srgbClr val="2A6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4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E0E8F4"/>
                </a:solidFill>
              </a:rPr>
              <a:t>"</a:t>
            </a:r>
            <a:r>
              <a:rPr lang="en-US" sz="1600" b="0" i="1" dirty="0">
                <a:solidFill>
                  <a:srgbClr val="E0E8F4"/>
                </a:solidFill>
              </a:rPr>
              <a:t>Show me all the Gas pipes that haven’t been inspected in the last quarter</a:t>
            </a:r>
            <a:r>
              <a:rPr sz="1600" b="0" i="1" dirty="0">
                <a:solidFill>
                  <a:srgbClr val="E0E8F4"/>
                </a:solidFill>
              </a:rPr>
              <a:t>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43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>
                <a:solidFill>
                  <a:srgbClr val="4FC3F7"/>
                </a:solidFill>
              </a:rPr>
              <a:t>→  "47 </a:t>
            </a:r>
            <a:r>
              <a:rPr lang="en-US" sz="1600" b="0" i="0" dirty="0">
                <a:solidFill>
                  <a:srgbClr val="4FC3F7"/>
                </a:solidFill>
              </a:rPr>
              <a:t>Gas pipes</a:t>
            </a:r>
            <a:r>
              <a:rPr sz="1600" b="0" i="0" dirty="0">
                <a:solidFill>
                  <a:srgbClr val="4FC3F7"/>
                </a:solidFill>
              </a:rPr>
              <a:t> found.</a:t>
            </a:r>
            <a:r>
              <a:rPr lang="en-US" sz="1600" b="0" i="0" dirty="0">
                <a:solidFill>
                  <a:srgbClr val="4FC3F7"/>
                </a:solidFill>
              </a:rPr>
              <a:t> That haven’t been inspected in the last quarter. Want me to add them to the chart for pipes to be inspected?</a:t>
            </a:r>
            <a:r>
              <a:rPr sz="1600" b="0" i="0" dirty="0">
                <a:solidFill>
                  <a:srgbClr val="4FC3F7"/>
                </a:solidFill>
              </a:rPr>
              <a:t>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6007" y="3458043"/>
            <a:ext cx="2648411" cy="3137469"/>
          </a:xfrm>
          <a:prstGeom prst="rect">
            <a:avLst/>
          </a:prstGeom>
          <a:solidFill>
            <a:srgbClr val="0C1C30"/>
          </a:solidFill>
          <a:ln w="9525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74366" y="3574251"/>
            <a:ext cx="2320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FC3F7"/>
                </a:solidFill>
              </a:rPr>
              <a:t>✓  </a:t>
            </a:r>
            <a:r>
              <a:rPr lang="en-US" sz="1600" b="1" i="0" dirty="0">
                <a:solidFill>
                  <a:srgbClr val="4FC3F7"/>
                </a:solidFill>
              </a:rPr>
              <a:t>Save Money</a:t>
            </a:r>
            <a:endParaRPr sz="1600" b="1" i="0" dirty="0">
              <a:solidFill>
                <a:srgbClr val="4FC3F7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84530" y="4315973"/>
            <a:ext cx="26098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en-US" sz="1600" b="0" i="0" dirty="0">
                <a:solidFill>
                  <a:srgbClr val="7A90B0"/>
                </a:solidFill>
              </a:rPr>
              <a:t>No Esri License</a:t>
            </a:r>
          </a:p>
          <a:p>
            <a:pPr algn="l"/>
            <a:r>
              <a:rPr lang="en-US" sz="1600" b="0" i="0" dirty="0">
                <a:solidFill>
                  <a:srgbClr val="7A90B0"/>
                </a:solidFill>
              </a:rPr>
              <a:t>ArcGIS costs </a:t>
            </a:r>
          </a:p>
          <a:p>
            <a:pPr algn="l"/>
            <a:r>
              <a:rPr lang="en-US" sz="1600" b="0" i="0" dirty="0">
                <a:solidFill>
                  <a:srgbClr val="7A90B0"/>
                </a:solidFill>
              </a:rPr>
              <a:t>€30K–150K/year per client </a:t>
            </a:r>
          </a:p>
          <a:p>
            <a:pPr marL="285750" indent="-285750" algn="l">
              <a:buFontTx/>
              <a:buChar char="-"/>
            </a:pPr>
            <a:r>
              <a:rPr lang="en-US" sz="1600" dirty="0">
                <a:solidFill>
                  <a:srgbClr val="7A90B0"/>
                </a:solidFill>
              </a:rPr>
              <a:t>No AI Subscription</a:t>
            </a:r>
          </a:p>
          <a:p>
            <a:pPr algn="l"/>
            <a:r>
              <a:rPr lang="en-US" sz="1600" b="0" i="0" dirty="0">
                <a:solidFill>
                  <a:srgbClr val="7A90B0"/>
                </a:solidFill>
              </a:rPr>
              <a:t>No more co</a:t>
            </a:r>
            <a:r>
              <a:rPr lang="en-US" sz="1600" dirty="0">
                <a:solidFill>
                  <a:srgbClr val="7A90B0"/>
                </a:solidFill>
              </a:rPr>
              <a:t>st on AI subscription and tokens per user</a:t>
            </a:r>
            <a:endParaRPr sz="1600" b="0" i="0" dirty="0">
              <a:solidFill>
                <a:srgbClr val="7A90B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4C3550-BF96-8507-2F77-7F79184C8D27}"/>
              </a:ext>
            </a:extLst>
          </p:cNvPr>
          <p:cNvSpPr/>
          <p:nvPr/>
        </p:nvSpPr>
        <p:spPr>
          <a:xfrm>
            <a:off x="665398" y="3476991"/>
            <a:ext cx="2783299" cy="3137469"/>
          </a:xfrm>
          <a:prstGeom prst="rect">
            <a:avLst/>
          </a:prstGeom>
          <a:solidFill>
            <a:srgbClr val="0C1C30"/>
          </a:solidFill>
          <a:ln w="9525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1E8828-DDEA-F2BF-ABA6-F018B70C3423}"/>
              </a:ext>
            </a:extLst>
          </p:cNvPr>
          <p:cNvSpPr txBox="1"/>
          <p:nvPr/>
        </p:nvSpPr>
        <p:spPr>
          <a:xfrm>
            <a:off x="822960" y="3522250"/>
            <a:ext cx="3054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FC3F7"/>
                </a:solidFill>
              </a:rPr>
              <a:t>✓  </a:t>
            </a:r>
            <a:r>
              <a:rPr lang="en-US" sz="1600" b="1" i="0" dirty="0">
                <a:solidFill>
                  <a:srgbClr val="4FC3F7"/>
                </a:solidFill>
              </a:rPr>
              <a:t>Save Time</a:t>
            </a:r>
            <a:endParaRPr sz="1600" b="1" i="0" dirty="0">
              <a:solidFill>
                <a:srgbClr val="4FC3F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232D8-D3A8-592F-710F-6FADFF1E94E9}"/>
              </a:ext>
            </a:extLst>
          </p:cNvPr>
          <p:cNvSpPr txBox="1"/>
          <p:nvPr/>
        </p:nvSpPr>
        <p:spPr>
          <a:xfrm>
            <a:off x="880443" y="3966477"/>
            <a:ext cx="25297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667C99"/>
                </a:solidFill>
              </a:rPr>
              <a:t>- Today:</a:t>
            </a:r>
            <a:r>
              <a:rPr lang="en-US" sz="1600" dirty="0">
                <a:solidFill>
                  <a:srgbClr val="667C99"/>
                </a:solidFill>
              </a:rPr>
              <a:t> 3–5 weeks per GIS question (specialist queue + analysis)</a:t>
            </a:r>
            <a:br>
              <a:rPr lang="en-US" sz="1600" dirty="0">
                <a:solidFill>
                  <a:srgbClr val="667C99"/>
                </a:solidFill>
              </a:rPr>
            </a:br>
            <a:r>
              <a:rPr lang="en-US" sz="1600" b="1" dirty="0">
                <a:solidFill>
                  <a:srgbClr val="667C99"/>
                </a:solidFill>
              </a:rPr>
              <a:t>With Orion:</a:t>
            </a:r>
            <a:r>
              <a:rPr lang="en-US" sz="1600" dirty="0">
                <a:solidFill>
                  <a:srgbClr val="667C99"/>
                </a:solidFill>
              </a:rPr>
              <a:t> 5 minutes</a:t>
            </a:r>
            <a:endParaRPr sz="1600" b="0" i="0" dirty="0">
              <a:solidFill>
                <a:srgbClr val="667C9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165" y="5273129"/>
            <a:ext cx="26170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667C99"/>
                </a:solidFill>
              </a:rPr>
              <a:t>-</a:t>
            </a:r>
            <a:r>
              <a:rPr sz="1600" b="1" i="0" dirty="0">
                <a:solidFill>
                  <a:srgbClr val="4FC3F7"/>
                </a:solidFill>
              </a:rPr>
              <a:t> </a:t>
            </a:r>
            <a:r>
              <a:rPr lang="en-US" sz="1600" b="1" dirty="0">
                <a:solidFill>
                  <a:srgbClr val="667C99"/>
                </a:solidFill>
              </a:rPr>
              <a:t>Instant Onboarding for New Staff</a:t>
            </a:r>
          </a:p>
          <a:p>
            <a:pPr algn="l"/>
            <a:r>
              <a:rPr lang="en-US" sz="1600" i="0" dirty="0">
                <a:solidFill>
                  <a:srgbClr val="667C99"/>
                </a:solidFill>
              </a:rPr>
              <a:t>Every New Hire Starts with a Senior at Their Side.</a:t>
            </a:r>
            <a:endParaRPr sz="1600" i="0" dirty="0">
              <a:solidFill>
                <a:srgbClr val="667C99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4EEE08-42D1-6AC8-B4D2-569462CFD8F0}"/>
              </a:ext>
            </a:extLst>
          </p:cNvPr>
          <p:cNvSpPr/>
          <p:nvPr/>
        </p:nvSpPr>
        <p:spPr>
          <a:xfrm>
            <a:off x="6477213" y="3466531"/>
            <a:ext cx="2765552" cy="3137469"/>
          </a:xfrm>
          <a:prstGeom prst="rect">
            <a:avLst/>
          </a:prstGeom>
          <a:solidFill>
            <a:srgbClr val="0C1C30"/>
          </a:solidFill>
          <a:ln w="9525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88137F-798C-4A63-F69F-D88E70B1D6C7}"/>
              </a:ext>
            </a:extLst>
          </p:cNvPr>
          <p:cNvSpPr txBox="1"/>
          <p:nvPr/>
        </p:nvSpPr>
        <p:spPr>
          <a:xfrm>
            <a:off x="6486476" y="4496787"/>
            <a:ext cx="27562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</a:pPr>
            <a:r>
              <a:rPr sz="1600" b="0" i="0" dirty="0">
                <a:solidFill>
                  <a:srgbClr val="7A90B0"/>
                </a:solidFill>
              </a:rPr>
              <a:t>Data never leaves the server. Full compliance with Dutch/EU data sovereignty rules.</a:t>
            </a:r>
            <a:endParaRPr lang="en-US" sz="1600" dirty="0">
              <a:solidFill>
                <a:srgbClr val="7A90B0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600" b="0" i="0" dirty="0">
                <a:solidFill>
                  <a:srgbClr val="7A90B0"/>
                </a:solidFill>
              </a:rPr>
              <a:t>Knowledge stays in your organization when an expert leaves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615487-35D1-E4D3-E7CA-507ED22508CD}"/>
              </a:ext>
            </a:extLst>
          </p:cNvPr>
          <p:cNvSpPr txBox="1"/>
          <p:nvPr/>
        </p:nvSpPr>
        <p:spPr>
          <a:xfrm>
            <a:off x="6332941" y="3600190"/>
            <a:ext cx="30540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4FC3F7"/>
                </a:solidFill>
              </a:rPr>
              <a:t>✓  </a:t>
            </a:r>
            <a:r>
              <a:rPr lang="en-US" sz="1600" b="1" dirty="0">
                <a:solidFill>
                  <a:srgbClr val="4FC3F7"/>
                </a:solidFill>
              </a:rPr>
              <a:t>Keep your Data</a:t>
            </a:r>
          </a:p>
          <a:p>
            <a:pPr algn="ctr"/>
            <a:r>
              <a:rPr lang="en-NL" sz="1600" b="1" dirty="0">
                <a:solidFill>
                  <a:srgbClr val="4FC3F7"/>
                </a:solidFill>
              </a:rPr>
              <a:t>✓ </a:t>
            </a:r>
            <a:r>
              <a:rPr lang="en-US" sz="1600" b="1" dirty="0">
                <a:solidFill>
                  <a:srgbClr val="4FC3F7"/>
                </a:solidFill>
              </a:rPr>
              <a:t>Keep your Knowledge</a:t>
            </a:r>
          </a:p>
          <a:p>
            <a:pPr algn="ctr"/>
            <a:r>
              <a:rPr lang="en-NL" sz="1600" b="1" dirty="0">
                <a:solidFill>
                  <a:srgbClr val="4FC3F7"/>
                </a:solidFill>
              </a:rPr>
              <a:t>✓ </a:t>
            </a:r>
            <a:r>
              <a:rPr lang="en-US" sz="1600" b="1" dirty="0">
                <a:solidFill>
                  <a:srgbClr val="4FC3F7"/>
                </a:solidFill>
              </a:rPr>
              <a:t>Keep your Sovereignty</a:t>
            </a:r>
            <a:endParaRPr lang="en-US" sz="1600" dirty="0"/>
          </a:p>
          <a:p>
            <a:pPr algn="l"/>
            <a:endParaRPr sz="1600" b="1" i="0" dirty="0">
              <a:solidFill>
                <a:srgbClr val="4FC3F7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BEF7B0-EC68-D5D4-BC3B-390DE6B4DED4}"/>
              </a:ext>
            </a:extLst>
          </p:cNvPr>
          <p:cNvSpPr/>
          <p:nvPr/>
        </p:nvSpPr>
        <p:spPr>
          <a:xfrm>
            <a:off x="9396625" y="3440592"/>
            <a:ext cx="2490575" cy="3137469"/>
          </a:xfrm>
          <a:prstGeom prst="rect">
            <a:avLst/>
          </a:prstGeom>
          <a:solidFill>
            <a:srgbClr val="0C1C30"/>
          </a:solidFill>
          <a:ln w="9525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838E8A-F50F-5851-A2B5-850D435E12A0}"/>
              </a:ext>
            </a:extLst>
          </p:cNvPr>
          <p:cNvSpPr txBox="1"/>
          <p:nvPr/>
        </p:nvSpPr>
        <p:spPr>
          <a:xfrm>
            <a:off x="9497448" y="4365188"/>
            <a:ext cx="24905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7A90B0"/>
                </a:solidFill>
              </a:rPr>
              <a:t>Businesses make decisions based on data. A single hallucination can be costly. That’s why reliability, consistency, and traceability are at the heart of our design.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C3B766-CA49-B8F2-FB04-FFF626849BD1}"/>
              </a:ext>
            </a:extLst>
          </p:cNvPr>
          <p:cNvSpPr txBox="1"/>
          <p:nvPr/>
        </p:nvSpPr>
        <p:spPr>
          <a:xfrm>
            <a:off x="9258270" y="3558387"/>
            <a:ext cx="2628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4FC3F7"/>
                </a:solidFill>
              </a:rPr>
              <a:t>✓  </a:t>
            </a:r>
            <a:r>
              <a:rPr lang="en-US" sz="1600" b="1" dirty="0">
                <a:solidFill>
                  <a:srgbClr val="4FC3F7"/>
                </a:solidFill>
              </a:rPr>
              <a:t>Reliable ,Traceable Answers</a:t>
            </a:r>
          </a:p>
          <a:p>
            <a:pPr algn="l"/>
            <a:endParaRPr sz="1600" b="1" i="0" dirty="0">
              <a:solidFill>
                <a:srgbClr val="4FC3F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8250C6A0-38C8-4C7A-E013-5447C2537B9D}"/>
              </a:ext>
            </a:extLst>
          </p:cNvPr>
          <p:cNvSpPr/>
          <p:nvPr/>
        </p:nvSpPr>
        <p:spPr>
          <a:xfrm>
            <a:off x="8229948" y="2780642"/>
            <a:ext cx="3022981" cy="2386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16" y="1160029"/>
            <a:ext cx="10908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Multi-Agentic Geo RAG Framework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92945" y="3774626"/>
            <a:ext cx="23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Generate</a:t>
            </a:r>
            <a:r>
              <a:rPr lang="en-US" sz="1600" dirty="0">
                <a:solidFill>
                  <a:schemeClr val="bg1"/>
                </a:solidFill>
              </a:rPr>
              <a:t> Report</a:t>
            </a:r>
          </a:p>
        </p:txBody>
      </p:sp>
      <p:pic>
        <p:nvPicPr>
          <p:cNvPr id="42" name="Graphic 41" descr="Database with solid fill">
            <a:extLst>
              <a:ext uri="{FF2B5EF4-FFF2-40B4-BE49-F238E27FC236}">
                <a16:creationId xmlns:a16="http://schemas.microsoft.com/office/drawing/2014/main" id="{9D90728A-7057-E42F-A6B1-0FAAFE2B5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7438" y="1950184"/>
            <a:ext cx="689403" cy="6894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DB9016B-1652-7C16-5D24-6CDE1B20C165}"/>
              </a:ext>
            </a:extLst>
          </p:cNvPr>
          <p:cNvSpPr txBox="1"/>
          <p:nvPr/>
        </p:nvSpPr>
        <p:spPr>
          <a:xfrm>
            <a:off x="2947080" y="2682157"/>
            <a:ext cx="1232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Geodatabase</a:t>
            </a:r>
            <a:endParaRPr lang="en-NL" sz="1400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CA65C3-EE62-3F98-5746-D2CBC3C22C46}"/>
              </a:ext>
            </a:extLst>
          </p:cNvPr>
          <p:cNvSpPr/>
          <p:nvPr/>
        </p:nvSpPr>
        <p:spPr>
          <a:xfrm>
            <a:off x="4688488" y="2229967"/>
            <a:ext cx="168041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Catalogue</a:t>
            </a:r>
            <a:endParaRPr lang="en-NL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4F0FBD2-0800-77A9-9BDB-98F0FCAAB84F}"/>
              </a:ext>
            </a:extLst>
          </p:cNvPr>
          <p:cNvSpPr/>
          <p:nvPr/>
        </p:nvSpPr>
        <p:spPr>
          <a:xfrm>
            <a:off x="4698552" y="2819630"/>
            <a:ext cx="168041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Planner</a:t>
            </a:r>
            <a:endParaRPr lang="en-NL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9A29178-C24E-1257-483F-80679005C8A5}"/>
              </a:ext>
            </a:extLst>
          </p:cNvPr>
          <p:cNvSpPr/>
          <p:nvPr/>
        </p:nvSpPr>
        <p:spPr>
          <a:xfrm>
            <a:off x="4698552" y="3429000"/>
            <a:ext cx="167337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Orchestrator</a:t>
            </a:r>
            <a:endParaRPr lang="en-NL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E4F4F2-2E45-49FE-CF2B-9C8EE5CF452D}"/>
              </a:ext>
            </a:extLst>
          </p:cNvPr>
          <p:cNvSpPr/>
          <p:nvPr/>
        </p:nvSpPr>
        <p:spPr>
          <a:xfrm>
            <a:off x="4698552" y="4093450"/>
            <a:ext cx="1673378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Sanitizer</a:t>
            </a:r>
            <a:endParaRPr lang="en-NL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CD4686-89A5-AD5C-BE05-939371971E58}"/>
              </a:ext>
            </a:extLst>
          </p:cNvPr>
          <p:cNvSpPr/>
          <p:nvPr/>
        </p:nvSpPr>
        <p:spPr>
          <a:xfrm>
            <a:off x="4675869" y="4709101"/>
            <a:ext cx="1680419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Executer</a:t>
            </a:r>
            <a:endParaRPr lang="en-NL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818661-48B2-5B09-556A-983E565C7DA1}"/>
              </a:ext>
            </a:extLst>
          </p:cNvPr>
          <p:cNvSpPr/>
          <p:nvPr/>
        </p:nvSpPr>
        <p:spPr>
          <a:xfrm>
            <a:off x="4593896" y="2068463"/>
            <a:ext cx="1878119" cy="388220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56B127-AF06-BF4F-EFC0-90CB7098F0D8}"/>
              </a:ext>
            </a:extLst>
          </p:cNvPr>
          <p:cNvSpPr txBox="1"/>
          <p:nvPr/>
        </p:nvSpPr>
        <p:spPr>
          <a:xfrm>
            <a:off x="5057087" y="1549801"/>
            <a:ext cx="1007007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Orion</a:t>
            </a:r>
            <a:endParaRPr lang="en-NL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ED1767-4E60-AD88-45A0-5EC087B5B7CA}"/>
              </a:ext>
            </a:extLst>
          </p:cNvPr>
          <p:cNvSpPr/>
          <p:nvPr/>
        </p:nvSpPr>
        <p:spPr>
          <a:xfrm>
            <a:off x="4675869" y="5290300"/>
            <a:ext cx="1680419" cy="393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 many more</a:t>
            </a:r>
            <a:endParaRPr lang="en-NL" dirty="0"/>
          </a:p>
        </p:txBody>
      </p:sp>
      <p:pic>
        <p:nvPicPr>
          <p:cNvPr id="62" name="Graphic 61" descr="Open folder with solid fill">
            <a:extLst>
              <a:ext uri="{FF2B5EF4-FFF2-40B4-BE49-F238E27FC236}">
                <a16:creationId xmlns:a16="http://schemas.microsoft.com/office/drawing/2014/main" id="{A11ADD8E-C445-A146-4F55-CCAB9192C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1981" y="4594792"/>
            <a:ext cx="486671" cy="4866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7D844EA-0B1C-F835-2639-77A754587EBA}"/>
              </a:ext>
            </a:extLst>
          </p:cNvPr>
          <p:cNvSpPr txBox="1"/>
          <p:nvPr/>
        </p:nvSpPr>
        <p:spPr>
          <a:xfrm>
            <a:off x="2881878" y="5073966"/>
            <a:ext cx="999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File System</a:t>
            </a:r>
            <a:endParaRPr lang="en-NL" sz="1400" dirty="0">
              <a:solidFill>
                <a:schemeClr val="bg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69FA12C-235D-CCAE-D676-B8A86BE84E6E}"/>
              </a:ext>
            </a:extLst>
          </p:cNvPr>
          <p:cNvCxnSpPr>
            <a:cxnSpLocks/>
          </p:cNvCxnSpPr>
          <p:nvPr/>
        </p:nvCxnSpPr>
        <p:spPr>
          <a:xfrm>
            <a:off x="3933238" y="2579363"/>
            <a:ext cx="534170" cy="22003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A91560-F83E-A659-AEBB-9B30A6797C85}"/>
              </a:ext>
            </a:extLst>
          </p:cNvPr>
          <p:cNvCxnSpPr>
            <a:cxnSpLocks/>
          </p:cNvCxnSpPr>
          <p:nvPr/>
        </p:nvCxnSpPr>
        <p:spPr>
          <a:xfrm flipV="1">
            <a:off x="3667110" y="4458458"/>
            <a:ext cx="645382" cy="53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73" descr="Cloud with solid fill">
            <a:extLst>
              <a:ext uri="{FF2B5EF4-FFF2-40B4-BE49-F238E27FC236}">
                <a16:creationId xmlns:a16="http://schemas.microsoft.com/office/drawing/2014/main" id="{3A8CF75E-EA4F-6D54-E5BC-59B10226A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9539" y="1817201"/>
            <a:ext cx="663074" cy="663074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E4ACFF6-F8DA-71D6-73D3-3008AC5E9C2F}"/>
              </a:ext>
            </a:extLst>
          </p:cNvPr>
          <p:cNvSpPr txBox="1"/>
          <p:nvPr/>
        </p:nvSpPr>
        <p:spPr>
          <a:xfrm>
            <a:off x="6804196" y="2389876"/>
            <a:ext cx="177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External Data 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39E2880-F53B-693C-76EA-3BC7BA01E284}"/>
              </a:ext>
            </a:extLst>
          </p:cNvPr>
          <p:cNvCxnSpPr>
            <a:cxnSpLocks/>
          </p:cNvCxnSpPr>
          <p:nvPr/>
        </p:nvCxnSpPr>
        <p:spPr>
          <a:xfrm flipH="1">
            <a:off x="6598503" y="2745552"/>
            <a:ext cx="417792" cy="38738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4BA8BCE-6705-D318-3F00-2DAED671ECAA}"/>
              </a:ext>
            </a:extLst>
          </p:cNvPr>
          <p:cNvSpPr txBox="1"/>
          <p:nvPr/>
        </p:nvSpPr>
        <p:spPr>
          <a:xfrm>
            <a:off x="6869966" y="5416833"/>
            <a:ext cx="112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Task Board 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69C61D9-6703-AFC6-1F7D-5745E8AF1D8D}"/>
              </a:ext>
            </a:extLst>
          </p:cNvPr>
          <p:cNvCxnSpPr>
            <a:cxnSpLocks/>
          </p:cNvCxnSpPr>
          <p:nvPr/>
        </p:nvCxnSpPr>
        <p:spPr>
          <a:xfrm flipH="1" flipV="1">
            <a:off x="6598503" y="4834873"/>
            <a:ext cx="462307" cy="2165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Graphic 86" descr="Chat bubble with solid fill">
            <a:extLst>
              <a:ext uri="{FF2B5EF4-FFF2-40B4-BE49-F238E27FC236}">
                <a16:creationId xmlns:a16="http://schemas.microsoft.com/office/drawing/2014/main" id="{7AA5BEBA-6CE8-77D1-4647-ED3A67149E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1000" y="2239539"/>
            <a:ext cx="689403" cy="689403"/>
          </a:xfrm>
          <a:prstGeom prst="rect">
            <a:avLst/>
          </a:prstGeom>
        </p:spPr>
      </p:pic>
      <p:pic>
        <p:nvPicPr>
          <p:cNvPr id="90" name="Graphic 89" descr="Map with pin with solid fill">
            <a:extLst>
              <a:ext uri="{FF2B5EF4-FFF2-40B4-BE49-F238E27FC236}">
                <a16:creationId xmlns:a16="http://schemas.microsoft.com/office/drawing/2014/main" id="{C886CDD1-CB2F-82D7-D818-E6EA24F5F6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79604" y="2764504"/>
            <a:ext cx="686913" cy="686913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B9C6A421-15C9-84E7-9F25-384EA8B1547F}"/>
              </a:ext>
            </a:extLst>
          </p:cNvPr>
          <p:cNvSpPr/>
          <p:nvPr/>
        </p:nvSpPr>
        <p:spPr>
          <a:xfrm>
            <a:off x="618431" y="3686529"/>
            <a:ext cx="1864182" cy="4530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User chats in NL 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E5FA53B-AC97-7CF6-F8D8-03B6EB4C8DF9}"/>
              </a:ext>
            </a:extLst>
          </p:cNvPr>
          <p:cNvCxnSpPr>
            <a:cxnSpLocks/>
          </p:cNvCxnSpPr>
          <p:nvPr/>
        </p:nvCxnSpPr>
        <p:spPr>
          <a:xfrm flipV="1">
            <a:off x="2819334" y="3863853"/>
            <a:ext cx="1567303" cy="36014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56CC52F-26C0-E4F3-6BBB-A26EDB5E0B10}"/>
              </a:ext>
            </a:extLst>
          </p:cNvPr>
          <p:cNvCxnSpPr>
            <a:cxnSpLocks/>
          </p:cNvCxnSpPr>
          <p:nvPr/>
        </p:nvCxnSpPr>
        <p:spPr>
          <a:xfrm flipV="1">
            <a:off x="6582345" y="3762335"/>
            <a:ext cx="1294566" cy="150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Graphic 95" descr="Document with solid fill">
            <a:extLst>
              <a:ext uri="{FF2B5EF4-FFF2-40B4-BE49-F238E27FC236}">
                <a16:creationId xmlns:a16="http://schemas.microsoft.com/office/drawing/2014/main" id="{A227F900-CC7B-5CEA-3002-988F5F1E6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50140" y="3568662"/>
            <a:ext cx="677672" cy="677672"/>
          </a:xfrm>
          <a:prstGeom prst="rect">
            <a:avLst/>
          </a:prstGeom>
        </p:spPr>
      </p:pic>
      <p:pic>
        <p:nvPicPr>
          <p:cNvPr id="98" name="Graphic 97" descr="Questions with solid fill">
            <a:extLst>
              <a:ext uri="{FF2B5EF4-FFF2-40B4-BE49-F238E27FC236}">
                <a16:creationId xmlns:a16="http://schemas.microsoft.com/office/drawing/2014/main" id="{80AA492A-521A-870D-261E-8051435FBB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19973" y="4294825"/>
            <a:ext cx="738005" cy="73800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07C4910-3B82-007E-90A4-AF2CD69E4A54}"/>
              </a:ext>
            </a:extLst>
          </p:cNvPr>
          <p:cNvSpPr txBox="1"/>
          <p:nvPr/>
        </p:nvSpPr>
        <p:spPr>
          <a:xfrm>
            <a:off x="9115789" y="2982202"/>
            <a:ext cx="128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Map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48A9118-A70E-18C3-7215-1EEB476B977E}"/>
              </a:ext>
            </a:extLst>
          </p:cNvPr>
          <p:cNvSpPr txBox="1"/>
          <p:nvPr/>
        </p:nvSpPr>
        <p:spPr>
          <a:xfrm>
            <a:off x="8869728" y="4426962"/>
            <a:ext cx="2344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Answers Questions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4" name="Graphic 103" descr="Clipboard Mixed with solid fill">
            <a:extLst>
              <a:ext uri="{FF2B5EF4-FFF2-40B4-BE49-F238E27FC236}">
                <a16:creationId xmlns:a16="http://schemas.microsoft.com/office/drawing/2014/main" id="{98A93763-707C-0F2E-9E71-EF13D86408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60810" y="4625145"/>
            <a:ext cx="706831" cy="706831"/>
          </a:xfrm>
          <a:prstGeom prst="rect">
            <a:avLst/>
          </a:prstGeom>
        </p:spPr>
      </p:pic>
      <p:pic>
        <p:nvPicPr>
          <p:cNvPr id="106" name="Graphic 105" descr="Male profile with solid fill">
            <a:extLst>
              <a:ext uri="{FF2B5EF4-FFF2-40B4-BE49-F238E27FC236}">
                <a16:creationId xmlns:a16="http://schemas.microsoft.com/office/drawing/2014/main" id="{1FAF4F0D-AEBB-CD3D-EA1F-9A93994EBB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6306" y="2871777"/>
            <a:ext cx="770455" cy="770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CB4F1-DD96-C935-F6B4-9BA31980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33B594-EBCC-FF04-8596-BC94B76E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32" y="1668865"/>
            <a:ext cx="9225129" cy="51891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17421E-8195-7635-8159-B2CF80F26103}"/>
              </a:ext>
            </a:extLst>
          </p:cNvPr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4FC3F7"/>
                </a:solidFill>
              </a:rPr>
              <a:t>PROOF</a:t>
            </a:r>
            <a:endParaRPr sz="3200" b="1" i="0" dirty="0">
              <a:solidFill>
                <a:srgbClr val="4FC3F7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3D903-A611-C617-7C4F-FDD15F201148}"/>
              </a:ext>
            </a:extLst>
          </p:cNvPr>
          <p:cNvSpPr txBox="1"/>
          <p:nvPr/>
        </p:nvSpPr>
        <p:spPr>
          <a:xfrm>
            <a:off x="669545" y="1145645"/>
            <a:ext cx="10908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Its live!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27C7E-1075-0890-88A6-F1FC2ED3D3E1}"/>
              </a:ext>
            </a:extLst>
          </p:cNvPr>
          <p:cNvSpPr txBox="1"/>
          <p:nvPr/>
        </p:nvSpPr>
        <p:spPr>
          <a:xfrm>
            <a:off x="2433634" y="1225166"/>
            <a:ext cx="7321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https://geoai-gisuniverse.westeurope.cloudapp.azure.com/stage/index.html</a:t>
            </a:r>
            <a:endParaRPr lang="en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3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9953" y="1147064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Three tailwinds are converging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39"/>
            <a:ext cx="3383280" cy="2829061"/>
          </a:xfrm>
          <a:prstGeom prst="rect">
            <a:avLst/>
          </a:prstGeom>
          <a:solidFill>
            <a:srgbClr val="0C1E32"/>
          </a:solidFill>
          <a:ln w="9525">
            <a:solidFill>
              <a:srgbClr val="1E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3383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 dirty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9078" y="2691474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</a:rPr>
              <a:t>Technology Readiness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368687"/>
            <a:ext cx="3108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chemeClr val="accent1"/>
                </a:solidFill>
              </a:rPr>
              <a:t>New models </a:t>
            </a:r>
            <a:r>
              <a:rPr sz="1600" b="0" i="0" dirty="0">
                <a:solidFill>
                  <a:schemeClr val="accent1"/>
                </a:solidFill>
              </a:rPr>
              <a:t>run on consumer hardware with response times under 3 seconds. </a:t>
            </a:r>
            <a:endParaRPr lang="en-US" sz="1600" b="0" i="0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02772" y="1926245"/>
            <a:ext cx="3383280" cy="2778852"/>
          </a:xfrm>
          <a:prstGeom prst="rect">
            <a:avLst/>
          </a:prstGeom>
          <a:solidFill>
            <a:srgbClr val="0C1E32"/>
          </a:solidFill>
          <a:ln w="9525">
            <a:solidFill>
              <a:srgbClr val="1E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5558944" y="2322142"/>
            <a:ext cx="149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b="1" i="0" dirty="0">
              <a:solidFill>
                <a:srgbClr val="FFFFFF"/>
              </a:solidFill>
            </a:endParaRPr>
          </a:p>
          <a:p>
            <a:pPr algn="l"/>
            <a:r>
              <a:rPr lang="en-US" sz="2400" b="1" dirty="0">
                <a:solidFill>
                  <a:srgbClr val="FFFFFF"/>
                </a:solidFill>
              </a:rPr>
              <a:t>Policies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37062" y="3368687"/>
            <a:ext cx="3383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chemeClr val="accent1"/>
                </a:solidFill>
              </a:rPr>
              <a:t>The EU AI Act</a:t>
            </a:r>
            <a:r>
              <a:rPr lang="en-US" sz="1600" b="0" i="0" dirty="0">
                <a:solidFill>
                  <a:schemeClr val="accent1"/>
                </a:solidFill>
              </a:rPr>
              <a:t>, GDPR</a:t>
            </a:r>
            <a:r>
              <a:rPr sz="1600" b="0" i="0" dirty="0">
                <a:solidFill>
                  <a:schemeClr val="accent1"/>
                </a:solidFill>
              </a:rPr>
              <a:t> and government polic</a:t>
            </a:r>
            <a:r>
              <a:rPr lang="en-US" sz="1600" b="0" i="0" dirty="0">
                <a:solidFill>
                  <a:schemeClr val="accent1"/>
                </a:solidFill>
              </a:rPr>
              <a:t>ies</a:t>
            </a:r>
            <a:r>
              <a:rPr sz="1600" b="0" i="0" dirty="0">
                <a:solidFill>
                  <a:schemeClr val="accent1"/>
                </a:solidFill>
              </a:rPr>
              <a:t> mandate that sensitive public data stays on-premise. </a:t>
            </a:r>
            <a:endParaRPr lang="en-US" sz="1600" b="0" i="0" dirty="0">
              <a:solidFill>
                <a:schemeClr val="accent1"/>
              </a:solidFill>
            </a:endParaRPr>
          </a:p>
          <a:p>
            <a:pPr algn="l"/>
            <a:r>
              <a:rPr lang="en-US" sz="1600" dirty="0">
                <a:solidFill>
                  <a:schemeClr val="accent1"/>
                </a:solidFill>
              </a:rPr>
              <a:t>Digital Sovereignty is demanded</a:t>
            </a:r>
            <a:endParaRPr sz="1600" b="0" i="0" dirty="0">
              <a:solidFill>
                <a:schemeClr val="accent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32902" y="1920240"/>
            <a:ext cx="3383280" cy="2770750"/>
          </a:xfrm>
          <a:prstGeom prst="rect">
            <a:avLst/>
          </a:prstGeom>
          <a:solidFill>
            <a:srgbClr val="0C1E32"/>
          </a:solidFill>
          <a:ln w="9525">
            <a:solidFill>
              <a:srgbClr val="1E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8132902" y="1993392"/>
            <a:ext cx="3383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2622" y="2718943"/>
            <a:ext cx="2585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</a:rPr>
              <a:t>Market</a:t>
            </a:r>
            <a:r>
              <a:rPr sz="2400" b="1" i="0" dirty="0">
                <a:solidFill>
                  <a:srgbClr val="FFFFFF"/>
                </a:solidFill>
              </a:rPr>
              <a:t> </a:t>
            </a:r>
            <a:r>
              <a:rPr lang="en-US" sz="2400" b="1" i="0" dirty="0">
                <a:solidFill>
                  <a:srgbClr val="FFFFFF"/>
                </a:solidFill>
              </a:rPr>
              <a:t>R</a:t>
            </a:r>
            <a:r>
              <a:rPr sz="2400" b="1" i="0" dirty="0">
                <a:solidFill>
                  <a:srgbClr val="FFFFFF"/>
                </a:solidFill>
              </a:rPr>
              <a:t>ead</a:t>
            </a:r>
            <a:r>
              <a:rPr lang="en-US" sz="2400" b="1" i="0" dirty="0">
                <a:solidFill>
                  <a:srgbClr val="FFFFFF"/>
                </a:solidFill>
              </a:rPr>
              <a:t>iness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8642" y="3367551"/>
            <a:ext cx="3108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chemeClr val="accent1"/>
                </a:solidFill>
              </a:rPr>
              <a:t>Organizations </a:t>
            </a:r>
            <a:r>
              <a:rPr sz="1600" b="0" i="0" dirty="0">
                <a:solidFill>
                  <a:schemeClr val="accent1"/>
                </a:solidFill>
              </a:rPr>
              <a:t>are actively </a:t>
            </a:r>
            <a:r>
              <a:rPr lang="en-US" sz="1600" b="0" i="0" dirty="0">
                <a:solidFill>
                  <a:schemeClr val="accent1"/>
                </a:solidFill>
              </a:rPr>
              <a:t>searching for ways to </a:t>
            </a:r>
            <a:r>
              <a:rPr sz="1600" b="0" i="0" dirty="0">
                <a:solidFill>
                  <a:schemeClr val="accent1"/>
                </a:solidFill>
              </a:rPr>
              <a:t>replac</a:t>
            </a:r>
            <a:r>
              <a:rPr lang="en-US" sz="1600" b="0" i="0" dirty="0">
                <a:solidFill>
                  <a:schemeClr val="accent1"/>
                </a:solidFill>
              </a:rPr>
              <a:t>e</a:t>
            </a:r>
            <a:r>
              <a:rPr sz="1600" b="0" i="0" dirty="0">
                <a:solidFill>
                  <a:schemeClr val="accent1"/>
                </a:solidFill>
              </a:rPr>
              <a:t> Esri. </a:t>
            </a:r>
            <a:endParaRPr lang="en-US" sz="1600" b="0" i="0" dirty="0">
              <a:solidFill>
                <a:schemeClr val="accent1"/>
              </a:solidFill>
            </a:endParaRPr>
          </a:p>
          <a:p>
            <a:r>
              <a:rPr lang="en-US" sz="1600" dirty="0">
                <a:solidFill>
                  <a:schemeClr val="accent1"/>
                </a:solidFill>
              </a:rPr>
              <a:t>Old GIS software is too slow, too expensive and not made for AI</a:t>
            </a:r>
          </a:p>
          <a:p>
            <a:pPr algn="l"/>
            <a:endParaRPr sz="1600" b="0" i="0" dirty="0">
              <a:solidFill>
                <a:schemeClr val="accent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9953" y="4892040"/>
            <a:ext cx="10908792" cy="1463040"/>
          </a:xfrm>
          <a:prstGeom prst="rect">
            <a:avLst/>
          </a:prstGeom>
          <a:solidFill>
            <a:srgbClr val="08182A"/>
          </a:solidFill>
          <a:ln w="9525">
            <a:solidFill>
              <a:srgbClr val="1E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822833" y="4983480"/>
            <a:ext cx="10543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b="0" i="0" dirty="0">
              <a:solidFill>
                <a:srgbClr val="B0B8CC"/>
              </a:solidFill>
            </a:endParaRPr>
          </a:p>
          <a:p>
            <a:r>
              <a:rPr sz="2000" b="0" i="0" dirty="0">
                <a:solidFill>
                  <a:srgbClr val="B0B8CC"/>
                </a:solidFill>
              </a:rPr>
              <a:t>First-mover window:</a:t>
            </a:r>
            <a:r>
              <a:rPr lang="en-US" sz="2000" b="0" i="0" dirty="0">
                <a:solidFill>
                  <a:srgbClr val="B0B8CC"/>
                </a:solidFill>
              </a:rPr>
              <a:t> Many claim they are building </a:t>
            </a:r>
            <a:r>
              <a:rPr lang="en-US" sz="2000" b="0" i="0" dirty="0" err="1">
                <a:solidFill>
                  <a:srgbClr val="B0B8CC"/>
                </a:solidFill>
              </a:rPr>
              <a:t>GeoAI</a:t>
            </a:r>
            <a:r>
              <a:rPr lang="en-US" sz="2000" b="0" i="0" dirty="0">
                <a:solidFill>
                  <a:srgbClr val="B0B8CC"/>
                </a:solidFill>
              </a:rPr>
              <a:t>. While what they do is just to connect Claude to a GIS software. </a:t>
            </a:r>
            <a:br>
              <a:rPr lang="en-US" sz="2000" b="0" i="0" dirty="0">
                <a:solidFill>
                  <a:srgbClr val="B0B8CC"/>
                </a:solidFill>
              </a:rPr>
            </a:br>
            <a:r>
              <a:rPr lang="en-US" sz="2000" b="0" i="0" dirty="0">
                <a:solidFill>
                  <a:srgbClr val="B0B8CC"/>
                </a:solidFill>
              </a:rPr>
              <a:t>We are building </a:t>
            </a:r>
            <a:r>
              <a:rPr lang="en-US" sz="2000" dirty="0">
                <a:solidFill>
                  <a:srgbClr val="B0B8CC"/>
                </a:solidFill>
              </a:rPr>
              <a:t>deep tech AI : </a:t>
            </a:r>
            <a:r>
              <a:rPr lang="en-US" sz="2000" b="0" i="0" dirty="0">
                <a:solidFill>
                  <a:srgbClr val="B0B8CC"/>
                </a:solidFill>
              </a:rPr>
              <a:t>The infrastructure that makes organizations independent.</a:t>
            </a:r>
            <a:endParaRPr sz="2000" b="0" i="0" dirty="0">
              <a:solidFill>
                <a:srgbClr val="B0B8CC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D41D453-40CE-0BEE-527A-E8EF89B3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034" y="2006065"/>
            <a:ext cx="878430" cy="663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FC3F7"/>
                </a:solidFill>
              </a:rP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Large, defensible, and underserved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383280" cy="1325880"/>
          </a:xfrm>
          <a:prstGeom prst="rect">
            <a:avLst/>
          </a:prstGeom>
          <a:solidFill>
            <a:srgbClr val="081C30"/>
          </a:solidFill>
          <a:ln w="9525">
            <a:solidFill>
              <a:srgbClr val="1E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4FC3F7"/>
                </a:solidFill>
              </a:rPr>
              <a:t>€</a:t>
            </a:r>
            <a:r>
              <a:rPr lang="en-US" sz="4800" b="1" i="0" dirty="0">
                <a:solidFill>
                  <a:srgbClr val="4FC3F7"/>
                </a:solidFill>
              </a:rPr>
              <a:t>300M</a:t>
            </a:r>
            <a:endParaRPr sz="4800" b="1" i="0" dirty="0">
              <a:solidFill>
                <a:srgbClr val="4FC3F7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03511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7A90B0"/>
                </a:solidFill>
              </a:rPr>
              <a:t>TAM — EU government</a:t>
            </a:r>
            <a:r>
              <a:rPr lang="en-US" sz="1400" b="0" i="0" dirty="0">
                <a:solidFill>
                  <a:srgbClr val="7A90B0"/>
                </a:solidFill>
              </a:rPr>
              <a:t> and Utility </a:t>
            </a:r>
            <a:r>
              <a:rPr sz="1400" b="0" i="0" dirty="0">
                <a:solidFill>
                  <a:srgbClr val="7A90B0"/>
                </a:solidFill>
              </a:rPr>
              <a:t>GIS software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828800"/>
            <a:ext cx="3383280" cy="1325880"/>
          </a:xfrm>
          <a:prstGeom prst="rect">
            <a:avLst/>
          </a:prstGeom>
          <a:solidFill>
            <a:srgbClr val="081C30"/>
          </a:solidFill>
          <a:ln w="9525">
            <a:solidFill>
              <a:srgbClr val="1E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4224528" y="1901952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4FC3F7"/>
                </a:solidFill>
              </a:rPr>
              <a:t>€</a:t>
            </a:r>
            <a:r>
              <a:rPr lang="en-US" sz="4800" b="1" dirty="0">
                <a:solidFill>
                  <a:srgbClr val="4FC3F7"/>
                </a:solidFill>
              </a:rPr>
              <a:t>12</a:t>
            </a:r>
            <a:r>
              <a:rPr sz="4800" b="1" i="0" dirty="0">
                <a:solidFill>
                  <a:srgbClr val="4FC3F7"/>
                </a:solidFill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562779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7A90B0"/>
                </a:solidFill>
              </a:rPr>
              <a:t>SAM — Netherlands
(</a:t>
            </a:r>
            <a:r>
              <a:rPr sz="1400" b="0" i="0" dirty="0" err="1">
                <a:solidFill>
                  <a:srgbClr val="7A90B0"/>
                </a:solidFill>
              </a:rPr>
              <a:t>gemeenten</a:t>
            </a:r>
            <a:r>
              <a:rPr sz="1400" b="0" i="0" dirty="0">
                <a:solidFill>
                  <a:srgbClr val="7A90B0"/>
                </a:solidFill>
              </a:rPr>
              <a:t> + </a:t>
            </a:r>
            <a:r>
              <a:rPr sz="1400" b="0" i="0" dirty="0" err="1">
                <a:solidFill>
                  <a:srgbClr val="7A90B0"/>
                </a:solidFill>
              </a:rPr>
              <a:t>waterschappen</a:t>
            </a:r>
            <a:r>
              <a:rPr sz="1400" b="0" i="0" dirty="0">
                <a:solidFill>
                  <a:srgbClr val="7A90B0"/>
                </a:solidFill>
              </a:rPr>
              <a:t> + utilities)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8975" y="1828800"/>
            <a:ext cx="3383280" cy="1325880"/>
          </a:xfrm>
          <a:prstGeom prst="rect">
            <a:avLst/>
          </a:prstGeom>
          <a:solidFill>
            <a:srgbClr val="081C30"/>
          </a:solidFill>
          <a:ln w="9525">
            <a:solidFill>
              <a:srgbClr val="1E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7808975" y="1901952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4FC3F7"/>
                </a:solidFill>
              </a:rPr>
              <a:t>€</a:t>
            </a:r>
            <a:r>
              <a:rPr lang="en-US" sz="4800" b="1" i="0" dirty="0">
                <a:solidFill>
                  <a:srgbClr val="4FC3F7"/>
                </a:solidFill>
              </a:rPr>
              <a:t>3</a:t>
            </a:r>
            <a:r>
              <a:rPr sz="4800" b="1" i="0" dirty="0">
                <a:solidFill>
                  <a:srgbClr val="4FC3F7"/>
                </a:solidFill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2595789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0B0"/>
                </a:solidFill>
              </a:rPr>
              <a:t>SOM Year 3
(30 organizations via partners)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953" y="3403580"/>
            <a:ext cx="5212080" cy="2194560"/>
          </a:xfrm>
          <a:prstGeom prst="rect">
            <a:avLst/>
          </a:prstGeom>
          <a:solidFill>
            <a:srgbClr val="14203A"/>
          </a:solidFill>
          <a:ln w="9525">
            <a:solidFill>
              <a:srgbClr val="25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804545" y="3482763"/>
            <a:ext cx="4882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Netherlands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545" y="3861899"/>
            <a:ext cx="48828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8CC"/>
                </a:solidFill>
              </a:rPr>
              <a:t>🏛  342 </a:t>
            </a:r>
            <a:r>
              <a:rPr sz="1600" b="0" i="0" dirty="0" err="1">
                <a:solidFill>
                  <a:srgbClr val="B0B8CC"/>
                </a:solidFill>
              </a:rPr>
              <a:t>Gemeenten</a:t>
            </a:r>
            <a:r>
              <a:rPr sz="1600" b="0" i="0" dirty="0">
                <a:solidFill>
                  <a:srgbClr val="B0B8CC"/>
                </a:solidFill>
              </a:rPr>
              <a:t> (municipalities)
💧  21 </a:t>
            </a:r>
            <a:r>
              <a:rPr sz="1600" b="0" i="0" dirty="0" err="1">
                <a:solidFill>
                  <a:srgbClr val="B0B8CC"/>
                </a:solidFill>
              </a:rPr>
              <a:t>Waterschappen</a:t>
            </a:r>
            <a:r>
              <a:rPr sz="1600" b="0" i="0" dirty="0">
                <a:solidFill>
                  <a:srgbClr val="B0B8CC"/>
                </a:solidFill>
              </a:rPr>
              <a:t> (water boards)
🛣  1 Rijkswaterstaat (national)
⚡  50+ Utility companies (</a:t>
            </a:r>
            <a:r>
              <a:rPr sz="1600" b="0" i="0" dirty="0" err="1">
                <a:solidFill>
                  <a:srgbClr val="B0B8CC"/>
                </a:solidFill>
              </a:rPr>
              <a:t>Stedin</a:t>
            </a:r>
            <a:r>
              <a:rPr sz="1600" b="0" i="0" dirty="0">
                <a:solidFill>
                  <a:srgbClr val="B0B8CC"/>
                </a:solidFill>
              </a:rPr>
              <a:t>, </a:t>
            </a:r>
            <a:r>
              <a:rPr sz="1600" b="0" i="0" dirty="0" err="1">
                <a:solidFill>
                  <a:srgbClr val="B0B8CC"/>
                </a:solidFill>
              </a:rPr>
              <a:t>Alliander</a:t>
            </a:r>
            <a:r>
              <a:rPr sz="1600" b="0" i="0" dirty="0">
                <a:solidFill>
                  <a:srgbClr val="B0B8CC"/>
                </a:solidFill>
              </a:rPr>
              <a:t>…)
    Average license: €20K–30K/year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3403580"/>
            <a:ext cx="5486400" cy="2194560"/>
          </a:xfrm>
          <a:prstGeom prst="rect">
            <a:avLst/>
          </a:prstGeom>
          <a:solidFill>
            <a:srgbClr val="14203A"/>
          </a:solidFill>
          <a:ln w="9525">
            <a:solidFill>
              <a:srgbClr val="25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227064" y="3495020"/>
            <a:ext cx="5157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EU Expansion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3985230"/>
            <a:ext cx="51572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8CC"/>
                </a:solidFill>
              </a:rPr>
              <a:t>🇩🇪  Germany 
🇧🇪  Belgium 
🇫🇷  France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4FC3F7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463772"/>
            <a:ext cx="109087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</a:rPr>
              <a:t>Open-source + Licensing +</a:t>
            </a:r>
            <a:r>
              <a:rPr sz="2600" b="1" i="0" dirty="0">
                <a:solidFill>
                  <a:srgbClr val="FFFFFF"/>
                </a:solidFill>
              </a:rPr>
              <a:t> OEM distribution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C183BC7-F52E-F28C-B0EF-6F807575B059}"/>
              </a:ext>
            </a:extLst>
          </p:cNvPr>
          <p:cNvSpPr/>
          <p:nvPr/>
        </p:nvSpPr>
        <p:spPr>
          <a:xfrm>
            <a:off x="685800" y="2692101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0D2442"/>
          </a:solidFill>
          <a:ln w="12700">
            <a:solidFill>
              <a:srgbClr val="2B4C7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0745B02-2046-490B-0868-87C86C21E2A4}"/>
              </a:ext>
            </a:extLst>
          </p:cNvPr>
          <p:cNvSpPr/>
          <p:nvPr/>
        </p:nvSpPr>
        <p:spPr>
          <a:xfrm>
            <a:off x="960120" y="2957277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AAB8CC"/>
                </a:solidFill>
              </a:rPr>
              <a:t>COMMUNITY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5430051-112A-470E-8128-4BE60BA3D1BE}"/>
              </a:ext>
            </a:extLst>
          </p:cNvPr>
          <p:cNvSpPr/>
          <p:nvPr/>
        </p:nvSpPr>
        <p:spPr>
          <a:xfrm>
            <a:off x="960120" y="3396189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Open source</a:t>
            </a:r>
            <a:endParaRPr lang="en-US" sz="20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953DD4B-0528-5F9C-3758-E599FD1F9494}"/>
              </a:ext>
            </a:extLst>
          </p:cNvPr>
          <p:cNvSpPr/>
          <p:nvPr/>
        </p:nvSpPr>
        <p:spPr>
          <a:xfrm>
            <a:off x="1097280" y="4155141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Limited capabilities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Developer adoption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Lead generation</a:t>
            </a:r>
            <a:endParaRPr lang="en-US" sz="14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291527AC-AA13-695D-2AB4-D8AFD1A2DE47}"/>
              </a:ext>
            </a:extLst>
          </p:cNvPr>
          <p:cNvSpPr/>
          <p:nvPr/>
        </p:nvSpPr>
        <p:spPr>
          <a:xfrm>
            <a:off x="4507992" y="2692101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0D2442"/>
          </a:solidFill>
          <a:ln w="25400">
            <a:noFill/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382567C-72FC-6F03-A222-353004D1CC92}"/>
              </a:ext>
            </a:extLst>
          </p:cNvPr>
          <p:cNvSpPr/>
          <p:nvPr/>
        </p:nvSpPr>
        <p:spPr>
          <a:xfrm>
            <a:off x="4782312" y="3396189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Direct license</a:t>
            </a:r>
            <a:endParaRPr lang="en-US" sz="2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94559EC-6E1E-EB80-6D57-700C884A1F5D}"/>
              </a:ext>
            </a:extLst>
          </p:cNvPr>
          <p:cNvSpPr/>
          <p:nvPr/>
        </p:nvSpPr>
        <p:spPr>
          <a:xfrm>
            <a:off x="4919472" y="4155141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Annual platform license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Implementation and support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Capability / scale tiers</a:t>
            </a:r>
            <a:endParaRPr lang="en-US" sz="14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890B2A7-5D78-947D-C2CD-094C603C952F}"/>
              </a:ext>
            </a:extLst>
          </p:cNvPr>
          <p:cNvSpPr/>
          <p:nvPr/>
        </p:nvSpPr>
        <p:spPr>
          <a:xfrm>
            <a:off x="8330184" y="2692101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0D2442"/>
          </a:solidFill>
          <a:ln w="12700">
            <a:solidFill>
              <a:srgbClr val="2B4C7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CED0807-9AFF-C3C0-C0C9-EA088EC530C6}"/>
              </a:ext>
            </a:extLst>
          </p:cNvPr>
          <p:cNvSpPr/>
          <p:nvPr/>
        </p:nvSpPr>
        <p:spPr>
          <a:xfrm>
            <a:off x="8604504" y="2957277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AAB8CC"/>
                </a:solidFill>
              </a:rPr>
              <a:t>PARTNER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EBF62FC5-A561-AA7E-F9AC-DF1051A16F48}"/>
              </a:ext>
            </a:extLst>
          </p:cNvPr>
          <p:cNvSpPr/>
          <p:nvPr/>
        </p:nvSpPr>
        <p:spPr>
          <a:xfrm>
            <a:off x="8604504" y="3396189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OEM license</a:t>
            </a:r>
            <a:endParaRPr lang="en-US" sz="20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C6E36FF-D310-0534-E5D7-A4A162235753}"/>
              </a:ext>
            </a:extLst>
          </p:cNvPr>
          <p:cNvSpPr/>
          <p:nvPr/>
        </p:nvSpPr>
        <p:spPr>
          <a:xfrm>
            <a:off x="8741664" y="4155141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Partner margin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Deployment rights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8CC"/>
                </a:solidFill>
              </a:rPr>
              <a:t>Volume and enterprise tiers</a:t>
            </a:r>
            <a:endParaRPr lang="en-US" sz="1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E89E196D-9298-FE62-3C1F-DE7C369ACC4D}"/>
              </a:ext>
            </a:extLst>
          </p:cNvPr>
          <p:cNvSpPr/>
          <p:nvPr/>
        </p:nvSpPr>
        <p:spPr>
          <a:xfrm>
            <a:off x="4699889" y="29167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AAB8CC"/>
                </a:solidFill>
              </a:rPr>
              <a:t>CLIENT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228CD-5994-36AA-A418-BA782A4E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87A79-D649-8F69-E611-A3138E56B6BA}"/>
              </a:ext>
            </a:extLst>
          </p:cNvPr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FC3F7"/>
                </a:solidFill>
              </a:rPr>
              <a:t>GO-TO-MARKET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84AE8-8EBF-BA16-98D9-C2056C31B709}"/>
              </a:ext>
            </a:extLst>
          </p:cNvPr>
          <p:cNvSpPr txBox="1"/>
          <p:nvPr/>
        </p:nvSpPr>
        <p:spPr>
          <a:xfrm>
            <a:off x="563357" y="1087976"/>
            <a:ext cx="109087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Distribution through </a:t>
            </a:r>
            <a:r>
              <a:rPr lang="en-US" sz="2600" b="1" i="0" dirty="0">
                <a:solidFill>
                  <a:srgbClr val="FFFFFF"/>
                </a:solidFill>
              </a:rPr>
              <a:t>companies </a:t>
            </a:r>
            <a:r>
              <a:rPr sz="2600" b="1" i="0" dirty="0">
                <a:solidFill>
                  <a:srgbClr val="FFFFFF"/>
                </a:solidFill>
              </a:rPr>
              <a:t>we already know</a:t>
            </a:r>
            <a:r>
              <a:rPr lang="en-US" sz="2600" b="1" dirty="0">
                <a:solidFill>
                  <a:srgbClr val="FFFFFF"/>
                </a:solidFill>
              </a:rPr>
              <a:t> and conferences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D18A76FC-BE7F-1E2C-72FC-AA79CC11DDD5}"/>
              </a:ext>
            </a:extLst>
          </p:cNvPr>
          <p:cNvSpPr/>
          <p:nvPr/>
        </p:nvSpPr>
        <p:spPr>
          <a:xfrm>
            <a:off x="716676" y="1579787"/>
            <a:ext cx="1356360" cy="12115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Clients</a:t>
            </a:r>
            <a:endParaRPr lang="en-NL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19D9A1-6EB9-3658-C76B-C1D16F6C65F2}"/>
              </a:ext>
            </a:extLst>
          </p:cNvPr>
          <p:cNvSpPr/>
          <p:nvPr/>
        </p:nvSpPr>
        <p:spPr>
          <a:xfrm>
            <a:off x="2498585" y="1742405"/>
            <a:ext cx="2103120" cy="886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Consultancy</a:t>
            </a:r>
            <a:endParaRPr lang="en-NL" dirty="0"/>
          </a:p>
          <a:p>
            <a:pPr algn="ctr"/>
            <a:r>
              <a:rPr lang="en-US" dirty="0"/>
              <a:t>Engineering</a:t>
            </a:r>
            <a:endParaRPr lang="en-NL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643AF6-6822-9CF6-B93E-84AB750685CF}"/>
              </a:ext>
            </a:extLst>
          </p:cNvPr>
          <p:cNvCxnSpPr>
            <a:cxnSpLocks/>
            <a:stCxn id="21" idx="6"/>
            <a:endCxn id="32" idx="1"/>
          </p:cNvCxnSpPr>
          <p:nvPr/>
        </p:nvCxnSpPr>
        <p:spPr>
          <a:xfrm>
            <a:off x="2073036" y="2185577"/>
            <a:ext cx="425549" cy="316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6D8BE9B-C1F5-4C1A-7CE1-00AFF1FA80DB}"/>
              </a:ext>
            </a:extLst>
          </p:cNvPr>
          <p:cNvSpPr/>
          <p:nvPr/>
        </p:nvSpPr>
        <p:spPr>
          <a:xfrm>
            <a:off x="4882841" y="1737581"/>
            <a:ext cx="4497471" cy="1395278"/>
          </a:xfrm>
          <a:custGeom>
            <a:avLst/>
            <a:gdLst>
              <a:gd name="connsiteX0" fmla="*/ 0 w 4497471"/>
              <a:gd name="connsiteY0" fmla="*/ 0 h 1395278"/>
              <a:gd name="connsiteX1" fmla="*/ 652133 w 4497471"/>
              <a:gd name="connsiteY1" fmla="*/ 0 h 1395278"/>
              <a:gd name="connsiteX2" fmla="*/ 1259292 w 4497471"/>
              <a:gd name="connsiteY2" fmla="*/ 0 h 1395278"/>
              <a:gd name="connsiteX3" fmla="*/ 1821476 w 4497471"/>
              <a:gd name="connsiteY3" fmla="*/ 0 h 1395278"/>
              <a:gd name="connsiteX4" fmla="*/ 2383660 w 4497471"/>
              <a:gd name="connsiteY4" fmla="*/ 0 h 1395278"/>
              <a:gd name="connsiteX5" fmla="*/ 3035793 w 4497471"/>
              <a:gd name="connsiteY5" fmla="*/ 0 h 1395278"/>
              <a:gd name="connsiteX6" fmla="*/ 3642952 w 4497471"/>
              <a:gd name="connsiteY6" fmla="*/ 0 h 1395278"/>
              <a:gd name="connsiteX7" fmla="*/ 4497471 w 4497471"/>
              <a:gd name="connsiteY7" fmla="*/ 0 h 1395278"/>
              <a:gd name="connsiteX8" fmla="*/ 4497471 w 4497471"/>
              <a:gd name="connsiteY8" fmla="*/ 451140 h 1395278"/>
              <a:gd name="connsiteX9" fmla="*/ 4497471 w 4497471"/>
              <a:gd name="connsiteY9" fmla="*/ 874374 h 1395278"/>
              <a:gd name="connsiteX10" fmla="*/ 4497471 w 4497471"/>
              <a:gd name="connsiteY10" fmla="*/ 1395278 h 1395278"/>
              <a:gd name="connsiteX11" fmla="*/ 4025237 w 4497471"/>
              <a:gd name="connsiteY11" fmla="*/ 1395278 h 1395278"/>
              <a:gd name="connsiteX12" fmla="*/ 3373103 w 4497471"/>
              <a:gd name="connsiteY12" fmla="*/ 1395278 h 1395278"/>
              <a:gd name="connsiteX13" fmla="*/ 2855894 w 4497471"/>
              <a:gd name="connsiteY13" fmla="*/ 1395278 h 1395278"/>
              <a:gd name="connsiteX14" fmla="*/ 2203761 w 4497471"/>
              <a:gd name="connsiteY14" fmla="*/ 1395278 h 1395278"/>
              <a:gd name="connsiteX15" fmla="*/ 1731526 w 4497471"/>
              <a:gd name="connsiteY15" fmla="*/ 1395278 h 1395278"/>
              <a:gd name="connsiteX16" fmla="*/ 1304267 w 4497471"/>
              <a:gd name="connsiteY16" fmla="*/ 1395278 h 1395278"/>
              <a:gd name="connsiteX17" fmla="*/ 877007 w 4497471"/>
              <a:gd name="connsiteY17" fmla="*/ 1395278 h 1395278"/>
              <a:gd name="connsiteX18" fmla="*/ 0 w 4497471"/>
              <a:gd name="connsiteY18" fmla="*/ 1395278 h 1395278"/>
              <a:gd name="connsiteX19" fmla="*/ 0 w 4497471"/>
              <a:gd name="connsiteY19" fmla="*/ 972044 h 1395278"/>
              <a:gd name="connsiteX20" fmla="*/ 0 w 4497471"/>
              <a:gd name="connsiteY20" fmla="*/ 479045 h 1395278"/>
              <a:gd name="connsiteX21" fmla="*/ 0 w 4497471"/>
              <a:gd name="connsiteY21" fmla="*/ 0 h 139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497471" h="1395278" fill="none" extrusionOk="0">
                <a:moveTo>
                  <a:pt x="0" y="0"/>
                </a:moveTo>
                <a:cubicBezTo>
                  <a:pt x="250222" y="-70524"/>
                  <a:pt x="373330" y="46451"/>
                  <a:pt x="652133" y="0"/>
                </a:cubicBezTo>
                <a:cubicBezTo>
                  <a:pt x="930936" y="-46451"/>
                  <a:pt x="998885" y="17630"/>
                  <a:pt x="1259292" y="0"/>
                </a:cubicBezTo>
                <a:cubicBezTo>
                  <a:pt x="1519699" y="-17630"/>
                  <a:pt x="1647145" y="39191"/>
                  <a:pt x="1821476" y="0"/>
                </a:cubicBezTo>
                <a:cubicBezTo>
                  <a:pt x="1995807" y="-39191"/>
                  <a:pt x="2169909" y="56829"/>
                  <a:pt x="2383660" y="0"/>
                </a:cubicBezTo>
                <a:cubicBezTo>
                  <a:pt x="2597411" y="-56829"/>
                  <a:pt x="2779538" y="14302"/>
                  <a:pt x="3035793" y="0"/>
                </a:cubicBezTo>
                <a:cubicBezTo>
                  <a:pt x="3292048" y="-14302"/>
                  <a:pt x="3487505" y="14518"/>
                  <a:pt x="3642952" y="0"/>
                </a:cubicBezTo>
                <a:cubicBezTo>
                  <a:pt x="3798399" y="-14518"/>
                  <a:pt x="4272165" y="88320"/>
                  <a:pt x="4497471" y="0"/>
                </a:cubicBezTo>
                <a:cubicBezTo>
                  <a:pt x="4500291" y="175164"/>
                  <a:pt x="4462562" y="340715"/>
                  <a:pt x="4497471" y="451140"/>
                </a:cubicBezTo>
                <a:cubicBezTo>
                  <a:pt x="4532380" y="561565"/>
                  <a:pt x="4455511" y="727300"/>
                  <a:pt x="4497471" y="874374"/>
                </a:cubicBezTo>
                <a:cubicBezTo>
                  <a:pt x="4539431" y="1021448"/>
                  <a:pt x="4436300" y="1241628"/>
                  <a:pt x="4497471" y="1395278"/>
                </a:cubicBezTo>
                <a:cubicBezTo>
                  <a:pt x="4321463" y="1398201"/>
                  <a:pt x="4192716" y="1391124"/>
                  <a:pt x="4025237" y="1395278"/>
                </a:cubicBezTo>
                <a:cubicBezTo>
                  <a:pt x="3857758" y="1399432"/>
                  <a:pt x="3640707" y="1393563"/>
                  <a:pt x="3373103" y="1395278"/>
                </a:cubicBezTo>
                <a:cubicBezTo>
                  <a:pt x="3105499" y="1396993"/>
                  <a:pt x="3067070" y="1348390"/>
                  <a:pt x="2855894" y="1395278"/>
                </a:cubicBezTo>
                <a:cubicBezTo>
                  <a:pt x="2644718" y="1442166"/>
                  <a:pt x="2449118" y="1364707"/>
                  <a:pt x="2203761" y="1395278"/>
                </a:cubicBezTo>
                <a:cubicBezTo>
                  <a:pt x="1958404" y="1425849"/>
                  <a:pt x="1904758" y="1368235"/>
                  <a:pt x="1731526" y="1395278"/>
                </a:cubicBezTo>
                <a:cubicBezTo>
                  <a:pt x="1558294" y="1422321"/>
                  <a:pt x="1493603" y="1388671"/>
                  <a:pt x="1304267" y="1395278"/>
                </a:cubicBezTo>
                <a:cubicBezTo>
                  <a:pt x="1114931" y="1401885"/>
                  <a:pt x="1066257" y="1370544"/>
                  <a:pt x="877007" y="1395278"/>
                </a:cubicBezTo>
                <a:cubicBezTo>
                  <a:pt x="687757" y="1420012"/>
                  <a:pt x="404278" y="1297706"/>
                  <a:pt x="0" y="1395278"/>
                </a:cubicBezTo>
                <a:cubicBezTo>
                  <a:pt x="-13730" y="1293453"/>
                  <a:pt x="46330" y="1078200"/>
                  <a:pt x="0" y="972044"/>
                </a:cubicBezTo>
                <a:cubicBezTo>
                  <a:pt x="-46330" y="865888"/>
                  <a:pt x="58044" y="698492"/>
                  <a:pt x="0" y="479045"/>
                </a:cubicBezTo>
                <a:cubicBezTo>
                  <a:pt x="-58044" y="259598"/>
                  <a:pt x="17839" y="114203"/>
                  <a:pt x="0" y="0"/>
                </a:cubicBezTo>
                <a:close/>
              </a:path>
              <a:path w="4497471" h="1395278" stroke="0" extrusionOk="0">
                <a:moveTo>
                  <a:pt x="0" y="0"/>
                </a:moveTo>
                <a:cubicBezTo>
                  <a:pt x="180775" y="-17539"/>
                  <a:pt x="402389" y="61150"/>
                  <a:pt x="517209" y="0"/>
                </a:cubicBezTo>
                <a:cubicBezTo>
                  <a:pt x="632029" y="-61150"/>
                  <a:pt x="836573" y="13433"/>
                  <a:pt x="944469" y="0"/>
                </a:cubicBezTo>
                <a:cubicBezTo>
                  <a:pt x="1052365" y="-13433"/>
                  <a:pt x="1291534" y="60364"/>
                  <a:pt x="1596602" y="0"/>
                </a:cubicBezTo>
                <a:cubicBezTo>
                  <a:pt x="1901670" y="-60364"/>
                  <a:pt x="1963655" y="14619"/>
                  <a:pt x="2113811" y="0"/>
                </a:cubicBezTo>
                <a:cubicBezTo>
                  <a:pt x="2263967" y="-14619"/>
                  <a:pt x="2460488" y="32953"/>
                  <a:pt x="2631021" y="0"/>
                </a:cubicBezTo>
                <a:cubicBezTo>
                  <a:pt x="2801554" y="-32953"/>
                  <a:pt x="2966225" y="77983"/>
                  <a:pt x="3283154" y="0"/>
                </a:cubicBezTo>
                <a:cubicBezTo>
                  <a:pt x="3600083" y="-77983"/>
                  <a:pt x="3635782" y="3160"/>
                  <a:pt x="3755388" y="0"/>
                </a:cubicBezTo>
                <a:cubicBezTo>
                  <a:pt x="3874994" y="-3160"/>
                  <a:pt x="4251666" y="55348"/>
                  <a:pt x="4497471" y="0"/>
                </a:cubicBezTo>
                <a:cubicBezTo>
                  <a:pt x="4505638" y="217987"/>
                  <a:pt x="4487362" y="279643"/>
                  <a:pt x="4497471" y="492998"/>
                </a:cubicBezTo>
                <a:cubicBezTo>
                  <a:pt x="4507580" y="706353"/>
                  <a:pt x="4480881" y="766405"/>
                  <a:pt x="4497471" y="930185"/>
                </a:cubicBezTo>
                <a:cubicBezTo>
                  <a:pt x="4514061" y="1093965"/>
                  <a:pt x="4486002" y="1291187"/>
                  <a:pt x="4497471" y="1395278"/>
                </a:cubicBezTo>
                <a:cubicBezTo>
                  <a:pt x="4356861" y="1437173"/>
                  <a:pt x="4094933" y="1354483"/>
                  <a:pt x="3890312" y="1395278"/>
                </a:cubicBezTo>
                <a:cubicBezTo>
                  <a:pt x="3685691" y="1436073"/>
                  <a:pt x="3463436" y="1392811"/>
                  <a:pt x="3238179" y="1395278"/>
                </a:cubicBezTo>
                <a:cubicBezTo>
                  <a:pt x="3012922" y="1397745"/>
                  <a:pt x="2760120" y="1331309"/>
                  <a:pt x="2586046" y="1395278"/>
                </a:cubicBezTo>
                <a:cubicBezTo>
                  <a:pt x="2411972" y="1459247"/>
                  <a:pt x="2304790" y="1365858"/>
                  <a:pt x="2113811" y="1395278"/>
                </a:cubicBezTo>
                <a:cubicBezTo>
                  <a:pt x="1922832" y="1424698"/>
                  <a:pt x="1703304" y="1331126"/>
                  <a:pt x="1551627" y="1395278"/>
                </a:cubicBezTo>
                <a:cubicBezTo>
                  <a:pt x="1399950" y="1459430"/>
                  <a:pt x="1216798" y="1352229"/>
                  <a:pt x="899494" y="1395278"/>
                </a:cubicBezTo>
                <a:cubicBezTo>
                  <a:pt x="582190" y="1438327"/>
                  <a:pt x="250461" y="1377586"/>
                  <a:pt x="0" y="1395278"/>
                </a:cubicBezTo>
                <a:cubicBezTo>
                  <a:pt x="-32867" y="1203746"/>
                  <a:pt x="21250" y="1064394"/>
                  <a:pt x="0" y="972044"/>
                </a:cubicBezTo>
                <a:cubicBezTo>
                  <a:pt x="-21250" y="879694"/>
                  <a:pt x="45968" y="664987"/>
                  <a:pt x="0" y="534857"/>
                </a:cubicBezTo>
                <a:cubicBezTo>
                  <a:pt x="-45968" y="404727"/>
                  <a:pt x="27849" y="108495"/>
                  <a:pt x="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3000"/>
            </a:schemeClr>
          </a:solidFill>
          <a:ln>
            <a:solidFill>
              <a:schemeClr val="accent1">
                <a:shade val="1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first target market is private engineering firms. They make decisions faster, which shortens our sales cycle and delivers a faster return on investment.</a:t>
            </a:r>
            <a:endParaRPr lang="en-N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9397FC-6E99-622F-4BF6-70586AEBA5D4}"/>
              </a:ext>
            </a:extLst>
          </p:cNvPr>
          <p:cNvSpPr/>
          <p:nvPr/>
        </p:nvSpPr>
        <p:spPr>
          <a:xfrm>
            <a:off x="3117844" y="3813321"/>
            <a:ext cx="6272095" cy="2264750"/>
          </a:xfrm>
          <a:custGeom>
            <a:avLst/>
            <a:gdLst>
              <a:gd name="connsiteX0" fmla="*/ 0 w 6272095"/>
              <a:gd name="connsiteY0" fmla="*/ 0 h 2264750"/>
              <a:gd name="connsiteX1" fmla="*/ 632911 w 6272095"/>
              <a:gd name="connsiteY1" fmla="*/ 0 h 2264750"/>
              <a:gd name="connsiteX2" fmla="*/ 1140381 w 6272095"/>
              <a:gd name="connsiteY2" fmla="*/ 0 h 2264750"/>
              <a:gd name="connsiteX3" fmla="*/ 1710571 w 6272095"/>
              <a:gd name="connsiteY3" fmla="*/ 0 h 2264750"/>
              <a:gd name="connsiteX4" fmla="*/ 2406204 w 6272095"/>
              <a:gd name="connsiteY4" fmla="*/ 0 h 2264750"/>
              <a:gd name="connsiteX5" fmla="*/ 2850952 w 6272095"/>
              <a:gd name="connsiteY5" fmla="*/ 0 h 2264750"/>
              <a:gd name="connsiteX6" fmla="*/ 3483864 w 6272095"/>
              <a:gd name="connsiteY6" fmla="*/ 0 h 2264750"/>
              <a:gd name="connsiteX7" fmla="*/ 3928612 w 6272095"/>
              <a:gd name="connsiteY7" fmla="*/ 0 h 2264750"/>
              <a:gd name="connsiteX8" fmla="*/ 4498803 w 6272095"/>
              <a:gd name="connsiteY8" fmla="*/ 0 h 2264750"/>
              <a:gd name="connsiteX9" fmla="*/ 5131714 w 6272095"/>
              <a:gd name="connsiteY9" fmla="*/ 0 h 2264750"/>
              <a:gd name="connsiteX10" fmla="*/ 5513742 w 6272095"/>
              <a:gd name="connsiteY10" fmla="*/ 0 h 2264750"/>
              <a:gd name="connsiteX11" fmla="*/ 6272095 w 6272095"/>
              <a:gd name="connsiteY11" fmla="*/ 0 h 2264750"/>
              <a:gd name="connsiteX12" fmla="*/ 6272095 w 6272095"/>
              <a:gd name="connsiteY12" fmla="*/ 611483 h 2264750"/>
              <a:gd name="connsiteX13" fmla="*/ 6272095 w 6272095"/>
              <a:gd name="connsiteY13" fmla="*/ 1222965 h 2264750"/>
              <a:gd name="connsiteX14" fmla="*/ 6272095 w 6272095"/>
              <a:gd name="connsiteY14" fmla="*/ 2264750 h 2264750"/>
              <a:gd name="connsiteX15" fmla="*/ 5764625 w 6272095"/>
              <a:gd name="connsiteY15" fmla="*/ 2264750 h 2264750"/>
              <a:gd name="connsiteX16" fmla="*/ 5257156 w 6272095"/>
              <a:gd name="connsiteY16" fmla="*/ 2264750 h 2264750"/>
              <a:gd name="connsiteX17" fmla="*/ 4624245 w 6272095"/>
              <a:gd name="connsiteY17" fmla="*/ 2264750 h 2264750"/>
              <a:gd name="connsiteX18" fmla="*/ 4054054 w 6272095"/>
              <a:gd name="connsiteY18" fmla="*/ 2264750 h 2264750"/>
              <a:gd name="connsiteX19" fmla="*/ 3358422 w 6272095"/>
              <a:gd name="connsiteY19" fmla="*/ 2264750 h 2264750"/>
              <a:gd name="connsiteX20" fmla="*/ 2662789 w 6272095"/>
              <a:gd name="connsiteY20" fmla="*/ 2264750 h 2264750"/>
              <a:gd name="connsiteX21" fmla="*/ 2029878 w 6272095"/>
              <a:gd name="connsiteY21" fmla="*/ 2264750 h 2264750"/>
              <a:gd name="connsiteX22" fmla="*/ 1396967 w 6272095"/>
              <a:gd name="connsiteY22" fmla="*/ 2264750 h 2264750"/>
              <a:gd name="connsiteX23" fmla="*/ 764055 w 6272095"/>
              <a:gd name="connsiteY23" fmla="*/ 2264750 h 2264750"/>
              <a:gd name="connsiteX24" fmla="*/ 0 w 6272095"/>
              <a:gd name="connsiteY24" fmla="*/ 2264750 h 2264750"/>
              <a:gd name="connsiteX25" fmla="*/ 0 w 6272095"/>
              <a:gd name="connsiteY25" fmla="*/ 1653268 h 2264750"/>
              <a:gd name="connsiteX26" fmla="*/ 0 w 6272095"/>
              <a:gd name="connsiteY26" fmla="*/ 1087080 h 2264750"/>
              <a:gd name="connsiteX27" fmla="*/ 0 w 6272095"/>
              <a:gd name="connsiteY27" fmla="*/ 588835 h 2264750"/>
              <a:gd name="connsiteX28" fmla="*/ 0 w 6272095"/>
              <a:gd name="connsiteY28" fmla="*/ 0 h 226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272095" h="2264750" fill="none" extrusionOk="0">
                <a:moveTo>
                  <a:pt x="0" y="0"/>
                </a:moveTo>
                <a:cubicBezTo>
                  <a:pt x="179575" y="-50939"/>
                  <a:pt x="408663" y="3693"/>
                  <a:pt x="632911" y="0"/>
                </a:cubicBezTo>
                <a:cubicBezTo>
                  <a:pt x="857159" y="-3693"/>
                  <a:pt x="984626" y="50526"/>
                  <a:pt x="1140381" y="0"/>
                </a:cubicBezTo>
                <a:cubicBezTo>
                  <a:pt x="1296136" y="-50526"/>
                  <a:pt x="1451759" y="40616"/>
                  <a:pt x="1710571" y="0"/>
                </a:cubicBezTo>
                <a:cubicBezTo>
                  <a:pt x="1969383" y="-40616"/>
                  <a:pt x="2137814" y="8790"/>
                  <a:pt x="2406204" y="0"/>
                </a:cubicBezTo>
                <a:cubicBezTo>
                  <a:pt x="2674594" y="-8790"/>
                  <a:pt x="2741694" y="1525"/>
                  <a:pt x="2850952" y="0"/>
                </a:cubicBezTo>
                <a:cubicBezTo>
                  <a:pt x="2960210" y="-1525"/>
                  <a:pt x="3174177" y="10398"/>
                  <a:pt x="3483864" y="0"/>
                </a:cubicBezTo>
                <a:cubicBezTo>
                  <a:pt x="3793551" y="-10398"/>
                  <a:pt x="3756042" y="38500"/>
                  <a:pt x="3928612" y="0"/>
                </a:cubicBezTo>
                <a:cubicBezTo>
                  <a:pt x="4101182" y="-38500"/>
                  <a:pt x="4277491" y="61182"/>
                  <a:pt x="4498803" y="0"/>
                </a:cubicBezTo>
                <a:cubicBezTo>
                  <a:pt x="4720115" y="-61182"/>
                  <a:pt x="4823009" y="28679"/>
                  <a:pt x="5131714" y="0"/>
                </a:cubicBezTo>
                <a:cubicBezTo>
                  <a:pt x="5440419" y="-28679"/>
                  <a:pt x="5361511" y="14906"/>
                  <a:pt x="5513742" y="0"/>
                </a:cubicBezTo>
                <a:cubicBezTo>
                  <a:pt x="5665973" y="-14906"/>
                  <a:pt x="6091147" y="16948"/>
                  <a:pt x="6272095" y="0"/>
                </a:cubicBezTo>
                <a:cubicBezTo>
                  <a:pt x="6329191" y="284538"/>
                  <a:pt x="6220828" y="412978"/>
                  <a:pt x="6272095" y="611483"/>
                </a:cubicBezTo>
                <a:cubicBezTo>
                  <a:pt x="6323362" y="809988"/>
                  <a:pt x="6264481" y="1084312"/>
                  <a:pt x="6272095" y="1222965"/>
                </a:cubicBezTo>
                <a:cubicBezTo>
                  <a:pt x="6279709" y="1361618"/>
                  <a:pt x="6199548" y="1777658"/>
                  <a:pt x="6272095" y="2264750"/>
                </a:cubicBezTo>
                <a:cubicBezTo>
                  <a:pt x="6078024" y="2319786"/>
                  <a:pt x="5919614" y="2218658"/>
                  <a:pt x="5764625" y="2264750"/>
                </a:cubicBezTo>
                <a:cubicBezTo>
                  <a:pt x="5609636" y="2310842"/>
                  <a:pt x="5460704" y="2258768"/>
                  <a:pt x="5257156" y="2264750"/>
                </a:cubicBezTo>
                <a:cubicBezTo>
                  <a:pt x="5053608" y="2270732"/>
                  <a:pt x="4929494" y="2207236"/>
                  <a:pt x="4624245" y="2264750"/>
                </a:cubicBezTo>
                <a:cubicBezTo>
                  <a:pt x="4318996" y="2322264"/>
                  <a:pt x="4244318" y="2229085"/>
                  <a:pt x="4054054" y="2264750"/>
                </a:cubicBezTo>
                <a:cubicBezTo>
                  <a:pt x="3863790" y="2300415"/>
                  <a:pt x="3700665" y="2251679"/>
                  <a:pt x="3358422" y="2264750"/>
                </a:cubicBezTo>
                <a:cubicBezTo>
                  <a:pt x="3016179" y="2277821"/>
                  <a:pt x="2930680" y="2236405"/>
                  <a:pt x="2662789" y="2264750"/>
                </a:cubicBezTo>
                <a:cubicBezTo>
                  <a:pt x="2394898" y="2293095"/>
                  <a:pt x="2337705" y="2222757"/>
                  <a:pt x="2029878" y="2264750"/>
                </a:cubicBezTo>
                <a:cubicBezTo>
                  <a:pt x="1722051" y="2306743"/>
                  <a:pt x="1644488" y="2256733"/>
                  <a:pt x="1396967" y="2264750"/>
                </a:cubicBezTo>
                <a:cubicBezTo>
                  <a:pt x="1149446" y="2272767"/>
                  <a:pt x="1019676" y="2200708"/>
                  <a:pt x="764055" y="2264750"/>
                </a:cubicBezTo>
                <a:cubicBezTo>
                  <a:pt x="508434" y="2328792"/>
                  <a:pt x="165282" y="2233608"/>
                  <a:pt x="0" y="2264750"/>
                </a:cubicBezTo>
                <a:cubicBezTo>
                  <a:pt x="-56928" y="2022686"/>
                  <a:pt x="60434" y="1917450"/>
                  <a:pt x="0" y="1653268"/>
                </a:cubicBezTo>
                <a:cubicBezTo>
                  <a:pt x="-60434" y="1389086"/>
                  <a:pt x="15392" y="1293701"/>
                  <a:pt x="0" y="1087080"/>
                </a:cubicBezTo>
                <a:cubicBezTo>
                  <a:pt x="-15392" y="880459"/>
                  <a:pt x="15705" y="747447"/>
                  <a:pt x="0" y="588835"/>
                </a:cubicBezTo>
                <a:cubicBezTo>
                  <a:pt x="-15705" y="430224"/>
                  <a:pt x="14314" y="232818"/>
                  <a:pt x="0" y="0"/>
                </a:cubicBezTo>
                <a:close/>
              </a:path>
              <a:path w="6272095" h="2264750" stroke="0" extrusionOk="0">
                <a:moveTo>
                  <a:pt x="0" y="0"/>
                </a:moveTo>
                <a:cubicBezTo>
                  <a:pt x="226949" y="-60783"/>
                  <a:pt x="267287" y="37462"/>
                  <a:pt x="507470" y="0"/>
                </a:cubicBezTo>
                <a:cubicBezTo>
                  <a:pt x="747653" y="-37462"/>
                  <a:pt x="759082" y="16222"/>
                  <a:pt x="889497" y="0"/>
                </a:cubicBezTo>
                <a:cubicBezTo>
                  <a:pt x="1019912" y="-16222"/>
                  <a:pt x="1415853" y="81484"/>
                  <a:pt x="1585129" y="0"/>
                </a:cubicBezTo>
                <a:cubicBezTo>
                  <a:pt x="1754405" y="-81484"/>
                  <a:pt x="1879805" y="32943"/>
                  <a:pt x="2092599" y="0"/>
                </a:cubicBezTo>
                <a:cubicBezTo>
                  <a:pt x="2305393" y="-32943"/>
                  <a:pt x="2486530" y="10887"/>
                  <a:pt x="2600068" y="0"/>
                </a:cubicBezTo>
                <a:cubicBezTo>
                  <a:pt x="2713606" y="-10887"/>
                  <a:pt x="3115535" y="53274"/>
                  <a:pt x="3295701" y="0"/>
                </a:cubicBezTo>
                <a:cubicBezTo>
                  <a:pt x="3475867" y="-53274"/>
                  <a:pt x="3530497" y="17616"/>
                  <a:pt x="3740449" y="0"/>
                </a:cubicBezTo>
                <a:cubicBezTo>
                  <a:pt x="3950401" y="-17616"/>
                  <a:pt x="4232722" y="47953"/>
                  <a:pt x="4436082" y="0"/>
                </a:cubicBezTo>
                <a:cubicBezTo>
                  <a:pt x="4639442" y="-47953"/>
                  <a:pt x="4952591" y="79479"/>
                  <a:pt x="5131714" y="0"/>
                </a:cubicBezTo>
                <a:cubicBezTo>
                  <a:pt x="5310837" y="-79479"/>
                  <a:pt x="5567840" y="52244"/>
                  <a:pt x="5701905" y="0"/>
                </a:cubicBezTo>
                <a:cubicBezTo>
                  <a:pt x="5835970" y="-52244"/>
                  <a:pt x="6089991" y="33544"/>
                  <a:pt x="6272095" y="0"/>
                </a:cubicBezTo>
                <a:cubicBezTo>
                  <a:pt x="6329087" y="123373"/>
                  <a:pt x="6237564" y="349507"/>
                  <a:pt x="6272095" y="543540"/>
                </a:cubicBezTo>
                <a:cubicBezTo>
                  <a:pt x="6306626" y="737573"/>
                  <a:pt x="6253363" y="859428"/>
                  <a:pt x="6272095" y="1041785"/>
                </a:cubicBezTo>
                <a:cubicBezTo>
                  <a:pt x="6290827" y="1224142"/>
                  <a:pt x="6232798" y="1385513"/>
                  <a:pt x="6272095" y="1607973"/>
                </a:cubicBezTo>
                <a:cubicBezTo>
                  <a:pt x="6311392" y="1830433"/>
                  <a:pt x="6262673" y="2046160"/>
                  <a:pt x="6272095" y="2264750"/>
                </a:cubicBezTo>
                <a:cubicBezTo>
                  <a:pt x="6097032" y="2320451"/>
                  <a:pt x="5932062" y="2246260"/>
                  <a:pt x="5701905" y="2264750"/>
                </a:cubicBezTo>
                <a:cubicBezTo>
                  <a:pt x="5471748" y="2283240"/>
                  <a:pt x="5229857" y="2207064"/>
                  <a:pt x="5006272" y="2264750"/>
                </a:cubicBezTo>
                <a:cubicBezTo>
                  <a:pt x="4782687" y="2322436"/>
                  <a:pt x="4554507" y="2234954"/>
                  <a:pt x="4436082" y="2264750"/>
                </a:cubicBezTo>
                <a:cubicBezTo>
                  <a:pt x="4317657" y="2294546"/>
                  <a:pt x="4155349" y="2231372"/>
                  <a:pt x="4054054" y="2264750"/>
                </a:cubicBezTo>
                <a:cubicBezTo>
                  <a:pt x="3952759" y="2298128"/>
                  <a:pt x="3698722" y="2255455"/>
                  <a:pt x="3609306" y="2264750"/>
                </a:cubicBezTo>
                <a:cubicBezTo>
                  <a:pt x="3519890" y="2274045"/>
                  <a:pt x="3165075" y="2252272"/>
                  <a:pt x="2913673" y="2264750"/>
                </a:cubicBezTo>
                <a:cubicBezTo>
                  <a:pt x="2662271" y="2277228"/>
                  <a:pt x="2596572" y="2260228"/>
                  <a:pt x="2343483" y="2264750"/>
                </a:cubicBezTo>
                <a:cubicBezTo>
                  <a:pt x="2090394" y="2269272"/>
                  <a:pt x="2018861" y="2235362"/>
                  <a:pt x="1898734" y="2264750"/>
                </a:cubicBezTo>
                <a:cubicBezTo>
                  <a:pt x="1778607" y="2294138"/>
                  <a:pt x="1566989" y="2200883"/>
                  <a:pt x="1328544" y="2264750"/>
                </a:cubicBezTo>
                <a:cubicBezTo>
                  <a:pt x="1090099" y="2328617"/>
                  <a:pt x="1081499" y="2229693"/>
                  <a:pt x="946516" y="2264750"/>
                </a:cubicBezTo>
                <a:cubicBezTo>
                  <a:pt x="811533" y="2299807"/>
                  <a:pt x="680290" y="2241654"/>
                  <a:pt x="564489" y="2264750"/>
                </a:cubicBezTo>
                <a:cubicBezTo>
                  <a:pt x="448688" y="2287846"/>
                  <a:pt x="241621" y="2253733"/>
                  <a:pt x="0" y="2264750"/>
                </a:cubicBezTo>
                <a:cubicBezTo>
                  <a:pt x="-29884" y="2064401"/>
                  <a:pt x="7023" y="1967108"/>
                  <a:pt x="0" y="1743858"/>
                </a:cubicBezTo>
                <a:cubicBezTo>
                  <a:pt x="-7023" y="1520608"/>
                  <a:pt x="52988" y="1287707"/>
                  <a:pt x="0" y="1132375"/>
                </a:cubicBezTo>
                <a:cubicBezTo>
                  <a:pt x="-52988" y="977043"/>
                  <a:pt x="50457" y="804719"/>
                  <a:pt x="0" y="588835"/>
                </a:cubicBezTo>
                <a:cubicBezTo>
                  <a:pt x="-50457" y="372951"/>
                  <a:pt x="25627" y="286144"/>
                  <a:pt x="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3000"/>
            </a:schemeClr>
          </a:solidFill>
          <a:ln>
            <a:solidFill>
              <a:schemeClr val="accent1">
                <a:shade val="1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Next phase: </a:t>
            </a:r>
          </a:p>
          <a:p>
            <a:pPr marL="285750" indent="-285750" algn="ctr">
              <a:buFontTx/>
              <a:buChar char="-"/>
            </a:pPr>
            <a:r>
              <a:rPr lang="en-US" b="1" dirty="0"/>
              <a:t>government </a:t>
            </a:r>
          </a:p>
          <a:p>
            <a:pPr marL="285750" indent="-285750" algn="ctr">
              <a:buFontTx/>
              <a:buChar char="-"/>
            </a:pPr>
            <a:r>
              <a:rPr lang="en-US" b="1" dirty="0"/>
              <a:t>Utilities</a:t>
            </a:r>
          </a:p>
          <a:p>
            <a:pPr marL="285750" indent="-285750" algn="ctr">
              <a:buFontTx/>
              <a:buChar char="-"/>
            </a:pPr>
            <a:r>
              <a:rPr lang="en-US" b="1" dirty="0"/>
              <a:t>Energy</a:t>
            </a:r>
          </a:p>
          <a:p>
            <a:pPr marL="285750" indent="-285750" algn="ctr">
              <a:buFontTx/>
              <a:buChar char="-"/>
            </a:pPr>
            <a:r>
              <a:rPr lang="en-US" b="1" dirty="0"/>
              <a:t>environment</a:t>
            </a:r>
            <a:endParaRPr lang="en-US" dirty="0"/>
          </a:p>
          <a:p>
            <a:pPr algn="ctr"/>
            <a:r>
              <a:rPr lang="en-US" dirty="0"/>
              <a:t>Longer sales cycles, but larger and more stable contracts.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8319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person standing with his arms crossed&#10;&#10;AI-generated content may be incorrect.">
            <a:extLst>
              <a:ext uri="{FF2B5EF4-FFF2-40B4-BE49-F238E27FC236}">
                <a16:creationId xmlns:a16="http://schemas.microsoft.com/office/drawing/2014/main" id="{21E85B3A-5520-F2A5-1122-86434BDEC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168" y="564269"/>
            <a:ext cx="3185484" cy="318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 person sitting at a desk&#10;&#10;AI-generated content may be incorrect.">
            <a:extLst>
              <a:ext uri="{FF2B5EF4-FFF2-40B4-BE49-F238E27FC236}">
                <a16:creationId xmlns:a16="http://schemas.microsoft.com/office/drawing/2014/main" id="{48244696-71F8-F5A7-3053-A1DD01785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31"/>
          <a:stretch>
            <a:fillRect/>
          </a:stretch>
        </p:blipFill>
        <p:spPr bwMode="auto">
          <a:xfrm>
            <a:off x="4914900" y="564268"/>
            <a:ext cx="3332652" cy="319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0080" y="502920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FC3F7"/>
                </a:solidFill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2284" y="142927"/>
            <a:ext cx="2095896" cy="461665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Adrian Akbari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284" y="585708"/>
            <a:ext cx="1601044" cy="338554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chemeClr val="tx2"/>
                </a:solidFill>
              </a:rPr>
              <a:t>Founder &amp; CEO</a:t>
            </a:r>
            <a:r>
              <a:rPr lang="en-US" sz="1600" b="0" i="0" dirty="0">
                <a:solidFill>
                  <a:schemeClr val="tx2"/>
                </a:solidFill>
              </a:rPr>
              <a:t> </a:t>
            </a:r>
            <a:endParaRPr sz="1600" b="0" i="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06892" y="3029675"/>
            <a:ext cx="3332652" cy="738664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</a:rPr>
              <a:t>GIS architect</a:t>
            </a:r>
            <a:r>
              <a:rPr lang="en-US" sz="1400" b="0" i="0" dirty="0">
                <a:solidFill>
                  <a:schemeClr val="bg1"/>
                </a:solidFill>
              </a:rPr>
              <a:t> and developer</a:t>
            </a:r>
            <a:r>
              <a:rPr sz="1400" b="0" i="0" dirty="0">
                <a:solidFill>
                  <a:schemeClr val="bg1"/>
                </a:solidFill>
              </a:rPr>
              <a:t> with </a:t>
            </a:r>
            <a:r>
              <a:rPr lang="en-US" sz="1400" b="0" i="0" dirty="0">
                <a:solidFill>
                  <a:schemeClr val="bg1"/>
                </a:solidFill>
              </a:rPr>
              <a:t>+ 10 years  of experience d</a:t>
            </a:r>
            <a:r>
              <a:rPr sz="1400" b="0" i="0" dirty="0">
                <a:solidFill>
                  <a:schemeClr val="bg1"/>
                </a:solidFill>
              </a:rPr>
              <a:t>esign</a:t>
            </a:r>
            <a:r>
              <a:rPr lang="en-US" sz="1400" b="0" i="0" dirty="0">
                <a:solidFill>
                  <a:schemeClr val="bg1"/>
                </a:solidFill>
              </a:rPr>
              <a:t>ing</a:t>
            </a:r>
            <a:r>
              <a:rPr sz="1400" b="0" i="0" dirty="0">
                <a:solidFill>
                  <a:schemeClr val="bg1"/>
                </a:solidFill>
              </a:rPr>
              <a:t> enterprise geo-systems</a:t>
            </a:r>
            <a:r>
              <a:rPr lang="en-US" sz="1400" b="0" i="0" dirty="0">
                <a:solidFill>
                  <a:schemeClr val="bg1"/>
                </a:solidFill>
              </a:rPr>
              <a:t> and applications</a:t>
            </a:r>
            <a:endParaRPr sz="1400" b="0" i="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9734" y="142927"/>
            <a:ext cx="2724912" cy="461665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Soheil Setayeshi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50041" y="2801940"/>
            <a:ext cx="3185484" cy="954107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chemeClr val="bg1"/>
                </a:solidFill>
              </a:rPr>
              <a:t>15 years of experience. </a:t>
            </a:r>
          </a:p>
          <a:p>
            <a:pPr algn="l"/>
            <a:r>
              <a:rPr lang="en-US" sz="1400" b="0" i="0" dirty="0">
                <a:solidFill>
                  <a:schemeClr val="bg1"/>
                </a:solidFill>
              </a:rPr>
              <a:t>Engineering director of Neshan Maps. A national navigation app with 30 million users.</a:t>
            </a:r>
            <a:endParaRPr sz="1400" b="0" i="0" dirty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9776" y="3957260"/>
            <a:ext cx="11364166" cy="2719414"/>
          </a:xfrm>
          <a:prstGeom prst="rect">
            <a:avLst/>
          </a:prstGeom>
          <a:solidFill>
            <a:srgbClr val="14203A"/>
          </a:solidFill>
          <a:ln w="9525">
            <a:solidFill>
              <a:srgbClr val="25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4882" y="3999018"/>
            <a:ext cx="113390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600" b="1" dirty="0">
                <a:solidFill>
                  <a:srgbClr val="B0B8CC"/>
                </a:solidFill>
              </a:rPr>
              <a:t> We are the user. We are the market</a:t>
            </a:r>
          </a:p>
          <a:p>
            <a:r>
              <a:rPr lang="en-US" sz="1600" dirty="0">
                <a:solidFill>
                  <a:srgbClr val="B0B8CC"/>
                </a:solidFill>
              </a:rPr>
              <a:t> We designed  GIS systems for municipalities, water boards, provinces, ministries, utilities, and consultancy firms. We didn't discover geospatial data from the AI side — we built the workflows our product now automates. We know exactly where analysts lose three hours a day, and why.</a:t>
            </a:r>
          </a:p>
          <a:p>
            <a:endParaRPr lang="en-US" sz="1600" dirty="0">
              <a:solidFill>
                <a:srgbClr val="B0B8CC"/>
              </a:solidFill>
            </a:endParaRPr>
          </a:p>
          <a:p>
            <a:r>
              <a:rPr lang="en-US" sz="1600" b="1" dirty="0">
                <a:solidFill>
                  <a:srgbClr val="B0B8CC"/>
                </a:solidFill>
              </a:rPr>
              <a:t>-      We know the competition from the inside.</a:t>
            </a:r>
          </a:p>
          <a:p>
            <a:r>
              <a:rPr lang="en-US" sz="1600" dirty="0">
                <a:solidFill>
                  <a:srgbClr val="B0B8CC"/>
                </a:solidFill>
              </a:rPr>
              <a:t>We have deployed, extended, and worked around Esri, </a:t>
            </a:r>
            <a:r>
              <a:rPr lang="en-US" sz="1600" dirty="0" err="1">
                <a:solidFill>
                  <a:srgbClr val="B0B8CC"/>
                </a:solidFill>
              </a:rPr>
              <a:t>VertiGIS</a:t>
            </a:r>
            <a:r>
              <a:rPr lang="en-US" sz="1600" dirty="0">
                <a:solidFill>
                  <a:srgbClr val="B0B8CC"/>
                </a:solidFill>
              </a:rPr>
              <a:t>, QGIS, and every major GIS stack . We know their technical details and their limitations.  </a:t>
            </a:r>
            <a:endParaRPr sz="1600" i="0" dirty="0">
              <a:solidFill>
                <a:srgbClr val="B0B8C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4882" y="3565087"/>
            <a:ext cx="910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Why </a:t>
            </a:r>
            <a:r>
              <a:rPr lang="en-US" b="1" i="0" dirty="0">
                <a:solidFill>
                  <a:srgbClr val="FFFFFF"/>
                </a:solidFill>
              </a:rPr>
              <a:t>Us?</a:t>
            </a:r>
            <a:endParaRPr b="1" i="0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54552"/>
            <a:ext cx="3988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Domain Experts in </a:t>
            </a:r>
          </a:p>
          <a:p>
            <a:pPr algn="l"/>
            <a:r>
              <a:rPr lang="en-US" sz="3000" b="1" i="0" dirty="0">
                <a:solidFill>
                  <a:srgbClr val="FFFFFF"/>
                </a:solidFill>
              </a:rPr>
              <a:t>GIS + AI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570850-A7FC-718A-E6BA-8A21911FD807}"/>
              </a:ext>
            </a:extLst>
          </p:cNvPr>
          <p:cNvSpPr txBox="1"/>
          <p:nvPr/>
        </p:nvSpPr>
        <p:spPr>
          <a:xfrm>
            <a:off x="8419734" y="604985"/>
            <a:ext cx="767298" cy="461665"/>
          </a:xfrm>
          <a:prstGeom prst="rect">
            <a:avLst/>
          </a:prstGeom>
          <a:solidFill>
            <a:srgbClr val="B0B8CC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chemeClr val="tx2"/>
                </a:solidFill>
              </a:rPr>
              <a:t>CTO</a:t>
            </a:r>
            <a:endParaRPr sz="2400" b="0" i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5107"/>
            <a:ext cx="1090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FC3F7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549" y="1238451"/>
            <a:ext cx="11408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We are offering a limited number of founding implementation partnerships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38BA2C-1402-571B-039A-A182E5A7BE37}"/>
              </a:ext>
            </a:extLst>
          </p:cNvPr>
          <p:cNvSpPr txBox="1"/>
          <p:nvPr/>
        </p:nvSpPr>
        <p:spPr>
          <a:xfrm>
            <a:off x="1430767" y="2291379"/>
            <a:ext cx="7311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 Months Pilot  				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 12 months post pilot license</a:t>
            </a:r>
          </a:p>
          <a:p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38" name="Graphic 37" descr="Checkmark with solid fill">
            <a:extLst>
              <a:ext uri="{FF2B5EF4-FFF2-40B4-BE49-F238E27FC236}">
                <a16:creationId xmlns:a16="http://schemas.microsoft.com/office/drawing/2014/main" id="{17E34A59-6621-D056-3990-0B255A88E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2225359"/>
            <a:ext cx="457200" cy="4572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3068279-199B-C8C3-BA67-2FE84AAABC62}"/>
              </a:ext>
            </a:extLst>
          </p:cNvPr>
          <p:cNvSpPr txBox="1"/>
          <p:nvPr/>
        </p:nvSpPr>
        <p:spPr>
          <a:xfrm>
            <a:off x="1430767" y="2937710"/>
            <a:ext cx="809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Implementation effort from your side 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 We will implement it on your system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0" name="Graphic 39" descr="Checkmark with solid fill">
            <a:extLst>
              <a:ext uri="{FF2B5EF4-FFF2-40B4-BE49-F238E27FC236}">
                <a16:creationId xmlns:a16="http://schemas.microsoft.com/office/drawing/2014/main" id="{B1418183-E0EF-EBF2-5253-12D322EC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2834959"/>
            <a:ext cx="457200" cy="4572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4C0A5D-B1C7-2BBD-DBCB-A262E35EE241}"/>
              </a:ext>
            </a:extLst>
          </p:cNvPr>
          <p:cNvSpPr txBox="1"/>
          <p:nvPr/>
        </p:nvSpPr>
        <p:spPr>
          <a:xfrm>
            <a:off x="1430767" y="3584041"/>
            <a:ext cx="5677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data leaves your organization		 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100% safe. 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90DD8311-DFAC-E390-390A-5669D4434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3481290"/>
            <a:ext cx="457200" cy="4572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078CF1A-31D0-DD9E-17FE-C914C4258B77}"/>
              </a:ext>
            </a:extLst>
          </p:cNvPr>
          <p:cNvSpPr txBox="1"/>
          <p:nvPr/>
        </p:nvSpPr>
        <p:spPr>
          <a:xfrm>
            <a:off x="1430767" y="4230372"/>
            <a:ext cx="6310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commitment from you 		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NO vendor lock-in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4" name="Graphic 43" descr="Checkmark with solid fill">
            <a:extLst>
              <a:ext uri="{FF2B5EF4-FFF2-40B4-BE49-F238E27FC236}">
                <a16:creationId xmlns:a16="http://schemas.microsoft.com/office/drawing/2014/main" id="{590A51A4-7BB5-BB3F-D168-673B2A6E3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4127621"/>
            <a:ext cx="457200" cy="4572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AD2AB1E-274E-A744-1197-F8D626AB4B87}"/>
              </a:ext>
            </a:extLst>
          </p:cNvPr>
          <p:cNvSpPr txBox="1"/>
          <p:nvPr/>
        </p:nvSpPr>
        <p:spPr>
          <a:xfrm>
            <a:off x="1430767" y="4938868"/>
            <a:ext cx="9792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Minimum requirement 			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 Just read access to a geodatabase. Works with any GPU!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BE32C5FB-7A28-0E91-7053-52D909F9C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148" y="4836117"/>
            <a:ext cx="457200" cy="4572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001AD39-7693-3A5F-0F43-584913F24972}"/>
              </a:ext>
            </a:extLst>
          </p:cNvPr>
          <p:cNvSpPr txBox="1"/>
          <p:nvPr/>
        </p:nvSpPr>
        <p:spPr>
          <a:xfrm>
            <a:off x="1581374" y="5610883"/>
            <a:ext cx="3921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Limited Offer: 3 months pilot just for 5K</a:t>
            </a:r>
            <a:endParaRPr lang="en-NL" dirty="0">
              <a:solidFill>
                <a:schemeClr val="bg1"/>
              </a:solidFill>
            </a:endParaRPr>
          </a:p>
        </p:txBody>
      </p:sp>
      <p:pic>
        <p:nvPicPr>
          <p:cNvPr id="49" name="Graphic 48" descr="Coins outline">
            <a:extLst>
              <a:ext uri="{FF2B5EF4-FFF2-40B4-BE49-F238E27FC236}">
                <a16:creationId xmlns:a16="http://schemas.microsoft.com/office/drawing/2014/main" id="{386FA11D-B69B-B35E-D54A-A24073148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754" y="5407106"/>
            <a:ext cx="677987" cy="677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C12AA-B1CF-3D46-B541-5B1E91853EA9}"/>
              </a:ext>
            </a:extLst>
          </p:cNvPr>
          <p:cNvSpPr txBox="1"/>
          <p:nvPr/>
        </p:nvSpPr>
        <p:spPr>
          <a:xfrm>
            <a:off x="5624273" y="5647364"/>
            <a:ext cx="514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We ask for your feedback</a:t>
            </a:r>
            <a:endParaRPr lang="en-N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E54116-5F8C-356A-B9C7-CE40CC7F5FDD}"/>
              </a:ext>
            </a:extLst>
          </p:cNvPr>
          <p:cNvSpPr/>
          <p:nvPr/>
        </p:nvSpPr>
        <p:spPr>
          <a:xfrm>
            <a:off x="666974" y="4426499"/>
            <a:ext cx="10854465" cy="2096317"/>
          </a:xfrm>
          <a:prstGeom prst="rect">
            <a:avLst/>
          </a:prstGeom>
          <a:solidFill>
            <a:srgbClr val="08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AB3D61-2A3B-37BC-AC17-A24C60A9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217" y="0"/>
            <a:ext cx="12277258" cy="6858000"/>
          </a:xfrm>
          <a:prstGeom prst="rect">
            <a:avLst/>
          </a:prstGeom>
        </p:spPr>
      </p:pic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A0272BF5-C63F-323A-5090-E002511E79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866269" y="4426498"/>
            <a:ext cx="3867819" cy="20963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88395" y="1975104"/>
            <a:ext cx="18473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80784" y="2515930"/>
            <a:ext cx="98444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4FC3F7"/>
                </a:solidFill>
              </a:rPr>
              <a:t>GIS Organizational Brain that knows your data and processes</a:t>
            </a:r>
          </a:p>
          <a:p>
            <a:pPr algn="ctr"/>
            <a:r>
              <a:rPr lang="en-US" sz="2800" b="1" dirty="0">
                <a:solidFill>
                  <a:srgbClr val="4FC3F7"/>
                </a:solidFill>
              </a:rPr>
              <a:t>Like that senior who is running everything for 15 years</a:t>
            </a:r>
            <a:endParaRPr sz="2800" b="1" dirty="0">
              <a:solidFill>
                <a:srgbClr val="4FC3F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5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B8CC"/>
                </a:solidFill>
              </a:rPr>
              <a:t>On-premise AI for geospatial data. </a:t>
            </a:r>
            <a:endParaRPr lang="en-US" sz="1600" b="0" i="0" dirty="0">
              <a:solidFill>
                <a:srgbClr val="B0B8CC"/>
              </a:solidFill>
            </a:endParaRPr>
          </a:p>
          <a:p>
            <a:pPr algn="ctr"/>
            <a:r>
              <a:rPr sz="1600" b="0" i="0" dirty="0">
                <a:solidFill>
                  <a:srgbClr val="B0B8CC"/>
                </a:solidFill>
              </a:rPr>
              <a:t>Built for Dutch and EU government data sovereignty.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947494" y="5474656"/>
            <a:ext cx="6428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Adrian Akbari  · 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47494" y="5917612"/>
            <a:ext cx="6428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4FC3F7"/>
                </a:solidFill>
              </a:rPr>
              <a:t>adrian@gisuniverse.com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9917F0-F9D5-8F5C-6317-9146312C1BCC}"/>
              </a:ext>
            </a:extLst>
          </p:cNvPr>
          <p:cNvSpPr txBox="1"/>
          <p:nvPr/>
        </p:nvSpPr>
        <p:spPr>
          <a:xfrm>
            <a:off x="4629403" y="1229854"/>
            <a:ext cx="23415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400" b="1" dirty="0">
                <a:solidFill>
                  <a:srgbClr val="4FC3F7"/>
                </a:solidFill>
              </a:rPr>
              <a:t>Orion</a:t>
            </a:r>
            <a:endParaRPr lang="en-NL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1070</Words>
  <Application>Microsoft Office PowerPoint</Application>
  <PresentationFormat>Custom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 Akbari</cp:lastModifiedBy>
  <cp:revision>109</cp:revision>
  <dcterms:created xsi:type="dcterms:W3CDTF">2013-01-27T09:14:16Z</dcterms:created>
  <dcterms:modified xsi:type="dcterms:W3CDTF">2026-10-14T15:00:23Z</dcterms:modified>
  <cp:category/>
</cp:coreProperties>
</file>