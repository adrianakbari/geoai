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77" r:id="rId4"/>
    <p:sldId id="260" r:id="rId5"/>
    <p:sldId id="272" r:id="rId6"/>
    <p:sldId id="273" r:id="rId7"/>
    <p:sldId id="274" r:id="rId8"/>
    <p:sldId id="275" r:id="rId9"/>
    <p:sldId id="270" r:id="rId10"/>
    <p:sldId id="271" r:id="rId11"/>
    <p:sldId id="259" r:id="rId12"/>
    <p:sldId id="267" r:id="rId13"/>
    <p:sldId id="268" r:id="rId14"/>
    <p:sldId id="266" r:id="rId15"/>
    <p:sldId id="276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5B8A"/>
    <a:srgbClr val="08163A"/>
    <a:srgbClr val="9296A0"/>
    <a:srgbClr val="B0B8CC"/>
    <a:srgbClr val="BE7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373" y="1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18" Type="http://schemas.openxmlformats.org/officeDocument/2006/relationships/image" Target="../media/image1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19" Type="http://schemas.openxmlformats.org/officeDocument/2006/relationships/image" Target="../media/image19.sv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8BF5244-13F7-016B-724F-2981ED481A1E}"/>
              </a:ext>
            </a:extLst>
          </p:cNvPr>
          <p:cNvSpPr/>
          <p:nvPr/>
        </p:nvSpPr>
        <p:spPr>
          <a:xfrm>
            <a:off x="473541" y="4741005"/>
            <a:ext cx="11241741" cy="1857813"/>
          </a:xfrm>
          <a:prstGeom prst="rect">
            <a:avLst/>
          </a:prstGeom>
          <a:solidFill>
            <a:srgbClr val="081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50ADF0D6-F158-CDE7-8555-BBA0404329D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4201131" y="4788585"/>
            <a:ext cx="3339980" cy="181023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26080" y="1463040"/>
            <a:ext cx="6309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 dirty="0" err="1">
                <a:solidFill>
                  <a:srgbClr val="4FC3F7"/>
                </a:solidFill>
              </a:rPr>
              <a:t>Geo</a:t>
            </a:r>
            <a:r>
              <a:rPr sz="6400" b="1" dirty="0" err="1">
                <a:solidFill>
                  <a:srgbClr val="FFFFFF"/>
                </a:solidFill>
              </a:rPr>
              <a:t>AI</a:t>
            </a:r>
            <a:endParaRPr sz="6400" b="1" dirty="0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0" y="2554692"/>
            <a:ext cx="944575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1" dirty="0">
                <a:solidFill>
                  <a:srgbClr val="B0B8CC"/>
                </a:solidFill>
              </a:rPr>
              <a:t>A GIS Expert AI</a:t>
            </a:r>
          </a:p>
          <a:p>
            <a:r>
              <a:rPr lang="en-US" sz="2000" dirty="0">
                <a:solidFill>
                  <a:srgbClr val="B0B8CC"/>
                </a:solidFill>
              </a:rPr>
              <a:t>						- </a:t>
            </a:r>
            <a:r>
              <a:rPr lang="en-US" sz="2000" b="1" i="1" dirty="0">
                <a:solidFill>
                  <a:srgbClr val="00B0F0"/>
                </a:solidFill>
              </a:rPr>
              <a:t>Understands</a:t>
            </a:r>
            <a:r>
              <a:rPr lang="en-US" sz="2000" dirty="0">
                <a:solidFill>
                  <a:srgbClr val="B0B8CC"/>
                </a:solidFill>
              </a:rPr>
              <a:t> Geospatial Data</a:t>
            </a:r>
          </a:p>
          <a:p>
            <a:r>
              <a:rPr lang="en-US" sz="2000" dirty="0">
                <a:solidFill>
                  <a:srgbClr val="B0B8CC"/>
                </a:solidFill>
              </a:rPr>
              <a:t>						- </a:t>
            </a:r>
            <a:r>
              <a:rPr lang="en-US" sz="2000" b="1" i="1" dirty="0">
                <a:solidFill>
                  <a:srgbClr val="00B0F0"/>
                </a:solidFill>
              </a:rPr>
              <a:t>Answers </a:t>
            </a:r>
            <a:r>
              <a:rPr lang="en-US" sz="2000" dirty="0">
                <a:solidFill>
                  <a:srgbClr val="B0B8CC"/>
                </a:solidFill>
              </a:rPr>
              <a:t>Questions </a:t>
            </a:r>
            <a:endParaRPr lang="en-US" sz="2000" b="1" i="1" dirty="0">
              <a:solidFill>
                <a:srgbClr val="00B0F0"/>
              </a:solidFill>
            </a:endParaRPr>
          </a:p>
          <a:p>
            <a:r>
              <a:rPr lang="en-US" sz="2000" b="0" i="0" dirty="0">
                <a:solidFill>
                  <a:srgbClr val="B0B8CC"/>
                </a:solidFill>
              </a:rPr>
              <a:t>						- </a:t>
            </a:r>
            <a:r>
              <a:rPr lang="en-US" sz="2000" b="1" i="1" dirty="0">
                <a:solidFill>
                  <a:srgbClr val="00B0F0"/>
                </a:solidFill>
              </a:rPr>
              <a:t>Does</a:t>
            </a:r>
            <a:r>
              <a:rPr lang="en-US" sz="2000" b="0" i="0" dirty="0">
                <a:solidFill>
                  <a:srgbClr val="B0B8CC"/>
                </a:solidFill>
              </a:rPr>
              <a:t> GIS tasks</a:t>
            </a:r>
            <a:endParaRPr sz="2000" b="0" i="0" dirty="0">
              <a:solidFill>
                <a:srgbClr val="B0B8C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95083" y="4319444"/>
            <a:ext cx="9445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FFFFFF"/>
                </a:solidFill>
              </a:rPr>
              <a:t>On-premise AI for geospatial data — </a:t>
            </a:r>
            <a:r>
              <a:rPr lang="en-US" sz="1800" b="1" i="0" dirty="0">
                <a:solidFill>
                  <a:srgbClr val="FFFFFF"/>
                </a:solidFill>
              </a:rPr>
              <a:t>100% Sovereignty, 100% Privacy</a:t>
            </a:r>
            <a:r>
              <a:rPr sz="1800" b="1" i="0" dirty="0">
                <a:solidFill>
                  <a:srgbClr val="FFFFFF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08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solidFill>
                  <a:srgbClr val="4FC3F7"/>
                </a:solidFill>
              </a:rPr>
              <a:t>What is </a:t>
            </a:r>
            <a:r>
              <a:rPr lang="en-US" sz="3200" b="1" i="0" dirty="0" err="1">
                <a:solidFill>
                  <a:srgbClr val="4FC3F7"/>
                </a:solidFill>
              </a:rPr>
              <a:t>GeoAI</a:t>
            </a:r>
            <a:r>
              <a:rPr lang="en-US" sz="3200" b="1" i="0" dirty="0">
                <a:solidFill>
                  <a:srgbClr val="4FC3F7"/>
                </a:solidFill>
              </a:rPr>
              <a:t>?</a:t>
            </a:r>
            <a:endParaRPr sz="3200" b="1" i="0" dirty="0">
              <a:solidFill>
                <a:srgbClr val="4FC3F7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9953" y="1054388"/>
            <a:ext cx="109087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 err="1">
                <a:solidFill>
                  <a:srgbClr val="FFFFFF"/>
                </a:solidFill>
              </a:rPr>
              <a:t>GeoAI</a:t>
            </a:r>
            <a:r>
              <a:rPr lang="en-US" sz="3000" b="1" i="0" dirty="0">
                <a:solidFill>
                  <a:srgbClr val="FFFFFF"/>
                </a:solidFill>
              </a:rPr>
              <a:t>: A center of command for all your GIS questions and tasks</a:t>
            </a:r>
            <a:endParaRPr sz="3000" b="1" i="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874518"/>
            <a:ext cx="10908792" cy="1325881"/>
          </a:xfrm>
          <a:prstGeom prst="rect">
            <a:avLst/>
          </a:prstGeom>
          <a:solidFill>
            <a:srgbClr val="0A223A"/>
          </a:solidFill>
          <a:ln w="9525">
            <a:solidFill>
              <a:srgbClr val="2A6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430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E0E8F4"/>
                </a:solidFill>
              </a:rPr>
              <a:t>"</a:t>
            </a:r>
            <a:r>
              <a:rPr lang="en-US" sz="1600" b="0" i="1" dirty="0">
                <a:solidFill>
                  <a:srgbClr val="E0E8F4"/>
                </a:solidFill>
              </a:rPr>
              <a:t>Show me all the Gas pipes that haven’t been inspected in the last quarter</a:t>
            </a:r>
            <a:r>
              <a:rPr sz="1600" b="0" i="1" dirty="0">
                <a:solidFill>
                  <a:srgbClr val="E0E8F4"/>
                </a:solidFill>
              </a:rPr>
              <a:t>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5430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 dirty="0">
                <a:solidFill>
                  <a:srgbClr val="4FC3F7"/>
                </a:solidFill>
              </a:rPr>
              <a:t>→  "47 </a:t>
            </a:r>
            <a:r>
              <a:rPr lang="en-US" sz="1600" b="0" i="0" dirty="0">
                <a:solidFill>
                  <a:srgbClr val="4FC3F7"/>
                </a:solidFill>
              </a:rPr>
              <a:t>Gas pipes</a:t>
            </a:r>
            <a:r>
              <a:rPr sz="1600" b="0" i="0" dirty="0">
                <a:solidFill>
                  <a:srgbClr val="4FC3F7"/>
                </a:solidFill>
              </a:rPr>
              <a:t> found.</a:t>
            </a:r>
            <a:r>
              <a:rPr lang="en-US" sz="1600" b="0" i="0" dirty="0">
                <a:solidFill>
                  <a:srgbClr val="4FC3F7"/>
                </a:solidFill>
              </a:rPr>
              <a:t> That haven’t been inspected in the last quarter. Want me to add them to the chart for pipes to be inspected?</a:t>
            </a:r>
            <a:r>
              <a:rPr sz="1600" b="0" i="0" dirty="0">
                <a:solidFill>
                  <a:srgbClr val="4FC3F7"/>
                </a:solidFill>
              </a:rPr>
              <a:t>"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018DB1F-D523-729A-398F-3845A8091F07}"/>
              </a:ext>
            </a:extLst>
          </p:cNvPr>
          <p:cNvSpPr txBox="1"/>
          <p:nvPr/>
        </p:nvSpPr>
        <p:spPr>
          <a:xfrm>
            <a:off x="4299594" y="5143844"/>
            <a:ext cx="424116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call to action</a:t>
            </a:r>
          </a:p>
          <a:p>
            <a:r>
              <a:rPr lang="en-US" dirty="0">
                <a:solidFill>
                  <a:srgbClr val="FF0000"/>
                </a:solidFill>
              </a:rPr>
              <a:t>CTA scrolls down to the bottom of the page</a:t>
            </a:r>
          </a:p>
          <a:p>
            <a:r>
              <a:rPr lang="en-US" dirty="0">
                <a:solidFill>
                  <a:srgbClr val="FF0000"/>
                </a:solidFill>
              </a:rPr>
              <a:t>User gets two options:</a:t>
            </a:r>
          </a:p>
          <a:p>
            <a:r>
              <a:rPr lang="en-US" dirty="0">
                <a:solidFill>
                  <a:srgbClr val="FF0000"/>
                </a:solidFill>
              </a:rPr>
              <a:t>1. fill in a contact form</a:t>
            </a:r>
          </a:p>
          <a:p>
            <a:r>
              <a:rPr lang="en-US" dirty="0">
                <a:solidFill>
                  <a:srgbClr val="FF0000"/>
                </a:solidFill>
              </a:rPr>
              <a:t>2. directly book a free consultation call</a:t>
            </a:r>
            <a:endParaRPr lang="en-NL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28A118-C169-C28D-C017-5B1CAAAC4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965878-27B2-425A-11A6-7093DA22BB0A}"/>
              </a:ext>
            </a:extLst>
          </p:cNvPr>
          <p:cNvSpPr txBox="1"/>
          <p:nvPr/>
        </p:nvSpPr>
        <p:spPr>
          <a:xfrm>
            <a:off x="640080" y="502920"/>
            <a:ext cx="10908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solidFill>
                  <a:srgbClr val="4FC3F7"/>
                </a:solidFill>
              </a:rPr>
              <a:t>Demo: video of </a:t>
            </a:r>
            <a:r>
              <a:rPr lang="en-US" sz="3200" b="1" i="0" dirty="0" err="1">
                <a:solidFill>
                  <a:srgbClr val="4FC3F7"/>
                </a:solidFill>
              </a:rPr>
              <a:t>geoai</a:t>
            </a:r>
            <a:endParaRPr sz="3200" b="1" i="0" dirty="0">
              <a:solidFill>
                <a:srgbClr val="4FC3F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66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6613" y="294739"/>
            <a:ext cx="10908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4FC3F7"/>
                </a:solidFill>
              </a:rPr>
              <a:t>W</a:t>
            </a:r>
            <a:r>
              <a:rPr lang="en-US" sz="3200" b="1" i="0" dirty="0">
                <a:solidFill>
                  <a:srgbClr val="4FC3F7"/>
                </a:solidFill>
              </a:rPr>
              <a:t>hy</a:t>
            </a:r>
            <a:r>
              <a:rPr sz="3200" b="1" i="0" dirty="0">
                <a:solidFill>
                  <a:srgbClr val="4FC3F7"/>
                </a:solidFill>
              </a:rPr>
              <a:t> </a:t>
            </a:r>
            <a:r>
              <a:rPr lang="en-US" sz="3200" b="1" dirty="0" err="1">
                <a:solidFill>
                  <a:srgbClr val="4FC3F7"/>
                </a:solidFill>
              </a:rPr>
              <a:t>GeoAI</a:t>
            </a:r>
            <a:endParaRPr sz="3200" b="1" i="0" dirty="0">
              <a:solidFill>
                <a:srgbClr val="4FC3F7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36CAF4-F26A-D616-DEBB-7E0630DDE9E5}"/>
              </a:ext>
            </a:extLst>
          </p:cNvPr>
          <p:cNvSpPr/>
          <p:nvPr/>
        </p:nvSpPr>
        <p:spPr>
          <a:xfrm>
            <a:off x="2068255" y="1563645"/>
            <a:ext cx="8915303" cy="4999616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4FC3F7"/>
                </a:solidFill>
              </a:rPr>
              <a:t>Save Time</a:t>
            </a:r>
          </a:p>
          <a:p>
            <a:pPr algn="ctr"/>
            <a:endParaRPr lang="en-US" b="1" dirty="0">
              <a:solidFill>
                <a:srgbClr val="4FC3F7"/>
              </a:solidFill>
            </a:endParaRPr>
          </a:p>
          <a:p>
            <a:pPr algn="ctr"/>
            <a:endParaRPr lang="en-US" b="1" dirty="0">
              <a:solidFill>
                <a:srgbClr val="4FC3F7"/>
              </a:solidFill>
            </a:endParaRPr>
          </a:p>
          <a:p>
            <a:pPr algn="ctr"/>
            <a:endParaRPr lang="en-US" b="1" dirty="0">
              <a:solidFill>
                <a:srgbClr val="4FC3F7"/>
              </a:solidFill>
            </a:endParaRPr>
          </a:p>
          <a:p>
            <a:pPr algn="ctr"/>
            <a:endParaRPr lang="en-US" b="1" dirty="0">
              <a:solidFill>
                <a:srgbClr val="4FC3F7"/>
              </a:solidFill>
            </a:endParaRPr>
          </a:p>
          <a:p>
            <a:pPr algn="ctr"/>
            <a:endParaRPr lang="en-US" b="1" dirty="0">
              <a:solidFill>
                <a:srgbClr val="4FC3F7"/>
              </a:solidFill>
            </a:endParaRPr>
          </a:p>
          <a:p>
            <a:pPr algn="ctr"/>
            <a:endParaRPr lang="en-US" b="1" dirty="0">
              <a:solidFill>
                <a:srgbClr val="4FC3F7"/>
              </a:solidFill>
            </a:endParaRPr>
          </a:p>
          <a:p>
            <a:pPr algn="ctr"/>
            <a:endParaRPr lang="en-US" b="1" dirty="0">
              <a:solidFill>
                <a:srgbClr val="4FC3F7"/>
              </a:solidFill>
            </a:endParaRPr>
          </a:p>
          <a:p>
            <a:pPr algn="ctr"/>
            <a:endParaRPr lang="en-US" b="1" dirty="0">
              <a:solidFill>
                <a:srgbClr val="4FC3F7"/>
              </a:solidFill>
            </a:endParaRPr>
          </a:p>
          <a:p>
            <a:pPr algn="ctr"/>
            <a:endParaRPr lang="en-US" b="1" dirty="0">
              <a:solidFill>
                <a:srgbClr val="4FC3F7"/>
              </a:solidFill>
            </a:endParaRPr>
          </a:p>
          <a:p>
            <a:pPr algn="ctr"/>
            <a:endParaRPr lang="en-US" b="1" dirty="0">
              <a:solidFill>
                <a:srgbClr val="4FC3F7"/>
              </a:solidFill>
            </a:endParaRPr>
          </a:p>
          <a:p>
            <a:pPr algn="ctr"/>
            <a:endParaRPr lang="en-US" b="1" dirty="0">
              <a:solidFill>
                <a:srgbClr val="4FC3F7"/>
              </a:solidFill>
            </a:endParaRPr>
          </a:p>
          <a:p>
            <a:pPr algn="ctr"/>
            <a:endParaRPr lang="en-US" b="1" dirty="0">
              <a:solidFill>
                <a:srgbClr val="4FC3F7"/>
              </a:solidFill>
            </a:endParaRPr>
          </a:p>
          <a:p>
            <a:pPr algn="ctr"/>
            <a:endParaRPr lang="en-US" b="1" dirty="0">
              <a:solidFill>
                <a:srgbClr val="4FC3F7"/>
              </a:solidFill>
            </a:endParaRPr>
          </a:p>
          <a:p>
            <a:pPr algn="ctr"/>
            <a:endParaRPr lang="en-US" b="1" dirty="0">
              <a:solidFill>
                <a:srgbClr val="4FC3F7"/>
              </a:solidFill>
            </a:endParaRPr>
          </a:p>
          <a:p>
            <a:pPr algn="ctr"/>
            <a:endParaRPr lang="en-US" b="1" dirty="0">
              <a:solidFill>
                <a:srgbClr val="4FC3F7"/>
              </a:solidFill>
            </a:endParaRPr>
          </a:p>
          <a:p>
            <a:pPr algn="ctr"/>
            <a:endParaRPr lang="en-US" b="1" dirty="0">
              <a:solidFill>
                <a:srgbClr val="4FC3F7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361D9E-2607-1DE1-58D1-3B9F901064D1}"/>
              </a:ext>
            </a:extLst>
          </p:cNvPr>
          <p:cNvSpPr txBox="1"/>
          <p:nvPr/>
        </p:nvSpPr>
        <p:spPr>
          <a:xfrm>
            <a:off x="2068255" y="2243116"/>
            <a:ext cx="24707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4FC3F7"/>
                </a:solidFill>
              </a:rPr>
              <a:t>✓  </a:t>
            </a:r>
            <a:r>
              <a:rPr lang="en-US" sz="1600" b="1" i="0" dirty="0">
                <a:solidFill>
                  <a:srgbClr val="4FC3F7"/>
                </a:solidFill>
              </a:rPr>
              <a:t>Get Answers in Minutes not Weeks</a:t>
            </a:r>
            <a:endParaRPr sz="1600" b="1" i="0" dirty="0">
              <a:solidFill>
                <a:srgbClr val="4FC3F7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5129F6-C35E-1DCC-D9E3-7C04CDF4695A}"/>
              </a:ext>
            </a:extLst>
          </p:cNvPr>
          <p:cNvSpPr txBox="1"/>
          <p:nvPr/>
        </p:nvSpPr>
        <p:spPr>
          <a:xfrm>
            <a:off x="2262755" y="2990506"/>
            <a:ext cx="227628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To answer a simple question business needs to: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</a:rPr>
              <a:t>Creates a ticket for the GIS team.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</a:rPr>
              <a:t>Wait a few weeks until GIS team has capacity available.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</a:rPr>
              <a:t>Wait a few days so that a GIS analyst can deliver.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Total wait time: 4 -5 weeks</a:t>
            </a:r>
          </a:p>
          <a:p>
            <a:endParaRPr lang="en-US" sz="1400" dirty="0">
              <a:solidFill>
                <a:srgbClr val="7A90B0"/>
              </a:solidFill>
            </a:endParaRPr>
          </a:p>
          <a:p>
            <a:r>
              <a:rPr lang="en-US" sz="1400" dirty="0" err="1">
                <a:solidFill>
                  <a:srgbClr val="7A90B0"/>
                </a:solidFill>
              </a:rPr>
              <a:t>GeoAI</a:t>
            </a:r>
            <a:r>
              <a:rPr lang="en-US" sz="1400" dirty="0">
                <a:solidFill>
                  <a:srgbClr val="7A90B0"/>
                </a:solidFill>
              </a:rPr>
              <a:t> can answer this in 5 minutes not 5  weeks.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E40136-86BF-BEE3-B75C-458F4A424438}"/>
              </a:ext>
            </a:extLst>
          </p:cNvPr>
          <p:cNvSpPr txBox="1"/>
          <p:nvPr/>
        </p:nvSpPr>
        <p:spPr>
          <a:xfrm>
            <a:off x="7155337" y="2309604"/>
            <a:ext cx="2279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4FC3F7"/>
                </a:solidFill>
              </a:rPr>
              <a:t>✓  </a:t>
            </a:r>
            <a:r>
              <a:rPr lang="en-US" sz="1600" b="1" dirty="0">
                <a:solidFill>
                  <a:srgbClr val="4FC3F7"/>
                </a:solidFill>
              </a:rPr>
              <a:t>New Employee is immediately onboarded!</a:t>
            </a:r>
            <a:endParaRPr sz="1600" b="1" i="0" dirty="0">
              <a:solidFill>
                <a:srgbClr val="4FC3F7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079833-63FA-6A35-84FD-6F3B56F9F855}"/>
              </a:ext>
            </a:extLst>
          </p:cNvPr>
          <p:cNvSpPr txBox="1"/>
          <p:nvPr/>
        </p:nvSpPr>
        <p:spPr>
          <a:xfrm>
            <a:off x="7459638" y="3352893"/>
            <a:ext cx="256539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 err="1">
                <a:solidFill>
                  <a:srgbClr val="7A90B0"/>
                </a:solidFill>
              </a:rPr>
              <a:t>GeoAI</a:t>
            </a:r>
            <a:r>
              <a:rPr lang="en-US" sz="1600" dirty="0">
                <a:solidFill>
                  <a:srgbClr val="7A90B0"/>
                </a:solidFill>
              </a:rPr>
              <a:t> is just like that  senior who already knows everything: </a:t>
            </a:r>
          </a:p>
          <a:p>
            <a:pPr algn="l"/>
            <a:r>
              <a:rPr lang="en-US" sz="1600" dirty="0">
                <a:solidFill>
                  <a:srgbClr val="7A90B0"/>
                </a:solidFill>
              </a:rPr>
              <a:t>- what data we have</a:t>
            </a:r>
          </a:p>
          <a:p>
            <a:r>
              <a:rPr lang="en-US" sz="1600" dirty="0">
                <a:solidFill>
                  <a:srgbClr val="7A90B0"/>
                </a:solidFill>
              </a:rPr>
              <a:t>- where each data can be found</a:t>
            </a:r>
          </a:p>
          <a:p>
            <a:r>
              <a:rPr lang="en-US" sz="1600" dirty="0">
                <a:solidFill>
                  <a:srgbClr val="7A90B0"/>
                </a:solidFill>
              </a:rPr>
              <a:t>- what scripts we have</a:t>
            </a:r>
          </a:p>
          <a:p>
            <a:r>
              <a:rPr lang="en-US" sz="1600" dirty="0">
                <a:solidFill>
                  <a:srgbClr val="7A90B0"/>
                </a:solidFill>
              </a:rPr>
              <a:t>- what each script does </a:t>
            </a:r>
            <a:endParaRPr lang="en-US" sz="1600" b="0" i="0" dirty="0">
              <a:solidFill>
                <a:srgbClr val="7A90B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E022BC-76F1-A1AF-9670-A93F5BC1D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E43E66-2943-6FC5-4A88-64394FADC7BD}"/>
              </a:ext>
            </a:extLst>
          </p:cNvPr>
          <p:cNvSpPr txBox="1"/>
          <p:nvPr/>
        </p:nvSpPr>
        <p:spPr>
          <a:xfrm>
            <a:off x="258279" y="275947"/>
            <a:ext cx="10908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4FC3F7"/>
                </a:solidFill>
              </a:rPr>
              <a:t>W</a:t>
            </a:r>
            <a:r>
              <a:rPr lang="en-US" sz="3200" b="1" i="0" dirty="0">
                <a:solidFill>
                  <a:srgbClr val="4FC3F7"/>
                </a:solidFill>
              </a:rPr>
              <a:t>hy</a:t>
            </a:r>
            <a:r>
              <a:rPr sz="3200" b="1" i="0" dirty="0">
                <a:solidFill>
                  <a:srgbClr val="4FC3F7"/>
                </a:solidFill>
              </a:rPr>
              <a:t> </a:t>
            </a:r>
            <a:r>
              <a:rPr lang="en-US" sz="3200" b="1" dirty="0" err="1">
                <a:solidFill>
                  <a:srgbClr val="4FC3F7"/>
                </a:solidFill>
              </a:rPr>
              <a:t>GeoAI</a:t>
            </a:r>
            <a:endParaRPr sz="3200" b="1" i="0" dirty="0">
              <a:solidFill>
                <a:srgbClr val="4FC3F7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F1862F-A1AE-3B6C-FA25-114718CF7FE8}"/>
              </a:ext>
            </a:extLst>
          </p:cNvPr>
          <p:cNvSpPr/>
          <p:nvPr/>
        </p:nvSpPr>
        <p:spPr>
          <a:xfrm>
            <a:off x="3125245" y="1269403"/>
            <a:ext cx="5394811" cy="4999616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 Money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Esri license</a:t>
            </a:r>
          </a:p>
          <a:p>
            <a:pPr algn="ctr"/>
            <a:r>
              <a:rPr lang="en-US" dirty="0"/>
              <a:t>AI tokens license</a:t>
            </a:r>
          </a:p>
          <a:p>
            <a:pPr algn="ctr"/>
            <a:r>
              <a:rPr lang="en-US" dirty="0">
                <a:solidFill>
                  <a:srgbClr val="7A90B0"/>
                </a:solidFill>
              </a:rPr>
              <a:t>No token cost. Runs on open-weight models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Calculate how much cost they save per employee by using </a:t>
            </a:r>
            <a:r>
              <a:rPr lang="en-US" dirty="0" err="1"/>
              <a:t>geoai</a:t>
            </a:r>
            <a:endParaRPr lang="en-NL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9E1B32-155F-3AA1-5EC3-1EA1C4D8AA88}"/>
              </a:ext>
            </a:extLst>
          </p:cNvPr>
          <p:cNvSpPr txBox="1"/>
          <p:nvPr/>
        </p:nvSpPr>
        <p:spPr>
          <a:xfrm>
            <a:off x="3157365" y="2408642"/>
            <a:ext cx="30502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Insert chart showing time save</a:t>
            </a:r>
          </a:p>
          <a:p>
            <a:r>
              <a:rPr lang="en-US" dirty="0">
                <a:solidFill>
                  <a:srgbClr val="FF0000"/>
                </a:solidFill>
              </a:rPr>
              <a:t>Us vs commercial software</a:t>
            </a:r>
            <a:endParaRPr lang="en-N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454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39988E-281B-034F-7F39-3EC82D6C4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7129DF-B166-26D8-8E25-5F26E2C5F9B8}"/>
              </a:ext>
            </a:extLst>
          </p:cNvPr>
          <p:cNvSpPr txBox="1"/>
          <p:nvPr/>
        </p:nvSpPr>
        <p:spPr>
          <a:xfrm>
            <a:off x="387371" y="296593"/>
            <a:ext cx="10908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4FC3F7"/>
                </a:solidFill>
              </a:rPr>
              <a:t>W</a:t>
            </a:r>
            <a:r>
              <a:rPr lang="en-US" sz="3200" b="1" i="0" dirty="0">
                <a:solidFill>
                  <a:srgbClr val="4FC3F7"/>
                </a:solidFill>
              </a:rPr>
              <a:t>hy</a:t>
            </a:r>
            <a:r>
              <a:rPr sz="3200" b="1" i="0" dirty="0">
                <a:solidFill>
                  <a:srgbClr val="4FC3F7"/>
                </a:solidFill>
              </a:rPr>
              <a:t> </a:t>
            </a:r>
            <a:r>
              <a:rPr lang="en-US" sz="3200" b="1" dirty="0" err="1">
                <a:solidFill>
                  <a:srgbClr val="4FC3F7"/>
                </a:solidFill>
              </a:rPr>
              <a:t>GeoAI</a:t>
            </a:r>
            <a:endParaRPr sz="3200" b="1" i="0" dirty="0">
              <a:solidFill>
                <a:srgbClr val="4FC3F7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57BDAA-9B06-4C51-6919-EDA1948A72E7}"/>
              </a:ext>
            </a:extLst>
          </p:cNvPr>
          <p:cNvSpPr/>
          <p:nvPr/>
        </p:nvSpPr>
        <p:spPr>
          <a:xfrm>
            <a:off x="1656678" y="881367"/>
            <a:ext cx="8756724" cy="5680039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b="1" dirty="0">
              <a:solidFill>
                <a:srgbClr val="4FC3F7"/>
              </a:solidFill>
            </a:endParaRPr>
          </a:p>
          <a:p>
            <a:pPr algn="ctr"/>
            <a:r>
              <a:rPr lang="en-US" b="1" dirty="0">
                <a:solidFill>
                  <a:srgbClr val="4FC3F7"/>
                </a:solidFill>
              </a:rPr>
              <a:t>Keep your Data</a:t>
            </a:r>
          </a:p>
          <a:p>
            <a:pPr algn="ctr"/>
            <a:r>
              <a:rPr lang="en-US" b="1" dirty="0">
                <a:solidFill>
                  <a:srgbClr val="4FC3F7"/>
                </a:solidFill>
              </a:rPr>
              <a:t>Keep your Knowledge</a:t>
            </a:r>
          </a:p>
          <a:p>
            <a:pPr algn="ctr"/>
            <a:r>
              <a:rPr lang="en-US" b="1" dirty="0">
                <a:solidFill>
                  <a:srgbClr val="4FC3F7"/>
                </a:solidFill>
              </a:rPr>
              <a:t>Keep your Sovereignty</a:t>
            </a:r>
            <a:endParaRPr lang="en-US" dirty="0"/>
          </a:p>
          <a:p>
            <a:pPr algn="ctr"/>
            <a:r>
              <a:rPr lang="en-US" b="1" dirty="0">
                <a:solidFill>
                  <a:srgbClr val="4FC3F7"/>
                </a:solidFill>
              </a:rPr>
              <a:t>  </a:t>
            </a:r>
          </a:p>
          <a:p>
            <a:pPr algn="ctr"/>
            <a:endParaRPr lang="en-US" b="1" dirty="0">
              <a:solidFill>
                <a:srgbClr val="4FC3F7"/>
              </a:solidFill>
            </a:endParaRPr>
          </a:p>
          <a:p>
            <a:pPr algn="ctr"/>
            <a:endParaRPr lang="en-US" b="1" dirty="0">
              <a:solidFill>
                <a:srgbClr val="4FC3F7"/>
              </a:solidFill>
            </a:endParaRPr>
          </a:p>
          <a:p>
            <a:pPr algn="ctr"/>
            <a:endParaRPr lang="en-US" b="1" dirty="0">
              <a:solidFill>
                <a:srgbClr val="4FC3F7"/>
              </a:solidFill>
            </a:endParaRPr>
          </a:p>
          <a:p>
            <a:pPr algn="ctr"/>
            <a:endParaRPr lang="en-US" b="1" dirty="0">
              <a:solidFill>
                <a:srgbClr val="4FC3F7"/>
              </a:solidFill>
            </a:endParaRPr>
          </a:p>
          <a:p>
            <a:pPr algn="ctr"/>
            <a:endParaRPr lang="en-US" b="1" dirty="0">
              <a:solidFill>
                <a:srgbClr val="4FC3F7"/>
              </a:solidFill>
            </a:endParaRPr>
          </a:p>
          <a:p>
            <a:pPr algn="ctr"/>
            <a:endParaRPr lang="en-US" b="1" dirty="0">
              <a:solidFill>
                <a:srgbClr val="4FC3F7"/>
              </a:solidFill>
            </a:endParaRPr>
          </a:p>
          <a:p>
            <a:pPr algn="ctr"/>
            <a:endParaRPr lang="en-US" b="1" dirty="0">
              <a:solidFill>
                <a:srgbClr val="4FC3F7"/>
              </a:solidFill>
            </a:endParaRPr>
          </a:p>
          <a:p>
            <a:pPr algn="ctr"/>
            <a:endParaRPr lang="en-US" b="1" dirty="0">
              <a:solidFill>
                <a:srgbClr val="4FC3F7"/>
              </a:solidFill>
            </a:endParaRPr>
          </a:p>
          <a:p>
            <a:pPr algn="ctr"/>
            <a:endParaRPr lang="en-US" b="1" dirty="0">
              <a:solidFill>
                <a:srgbClr val="4FC3F7"/>
              </a:solidFill>
            </a:endParaRPr>
          </a:p>
          <a:p>
            <a:pPr algn="ctr"/>
            <a:endParaRPr lang="en-US" b="1" dirty="0">
              <a:solidFill>
                <a:srgbClr val="4FC3F7"/>
              </a:solidFill>
            </a:endParaRPr>
          </a:p>
          <a:p>
            <a:pPr algn="ctr"/>
            <a:endParaRPr lang="en-US" b="1" dirty="0">
              <a:solidFill>
                <a:srgbClr val="4FC3F7"/>
              </a:solidFill>
            </a:endParaRPr>
          </a:p>
          <a:p>
            <a:pPr algn="ctr"/>
            <a:endParaRPr lang="en-US" b="1" dirty="0">
              <a:solidFill>
                <a:srgbClr val="4FC3F7"/>
              </a:solidFill>
            </a:endParaRPr>
          </a:p>
          <a:p>
            <a:pPr algn="ctr"/>
            <a:endParaRPr lang="en-US" b="1" dirty="0">
              <a:solidFill>
                <a:srgbClr val="4FC3F7"/>
              </a:solidFill>
            </a:endParaRPr>
          </a:p>
          <a:p>
            <a:pPr algn="ctr"/>
            <a:endParaRPr lang="en-US" dirty="0"/>
          </a:p>
          <a:p>
            <a:pPr algn="ctr"/>
            <a:endParaRPr lang="en-NL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F2B17B-C0C3-E941-B5C7-C786EB786D8D}"/>
              </a:ext>
            </a:extLst>
          </p:cNvPr>
          <p:cNvSpPr txBox="1"/>
          <p:nvPr/>
        </p:nvSpPr>
        <p:spPr>
          <a:xfrm>
            <a:off x="3594359" y="4452878"/>
            <a:ext cx="50001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GIS expertise often exists only in the head of one expert. </a:t>
            </a:r>
          </a:p>
          <a:p>
            <a:r>
              <a:rPr lang="en-US" dirty="0">
                <a:solidFill>
                  <a:schemeClr val="bg1"/>
                </a:solidFill>
              </a:rPr>
              <a:t>The expertise is gone when that expert is gone.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With </a:t>
            </a:r>
            <a:r>
              <a:rPr lang="en-US" dirty="0" err="1">
                <a:solidFill>
                  <a:schemeClr val="bg1"/>
                </a:solidFill>
              </a:rPr>
              <a:t>GeoAI</a:t>
            </a:r>
            <a:r>
              <a:rPr lang="en-US" dirty="0">
                <a:solidFill>
                  <a:schemeClr val="bg1"/>
                </a:solidFill>
              </a:rPr>
              <a:t> keep the knowledge in your organization. </a:t>
            </a:r>
          </a:p>
          <a:p>
            <a:r>
              <a:rPr lang="en-US" dirty="0">
                <a:solidFill>
                  <a:schemeClr val="bg1"/>
                </a:solidFill>
              </a:rPr>
              <a:t>When that expert leaves. The knowledge remain in your hands</a:t>
            </a:r>
            <a:endParaRPr lang="en-NL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86AC18-5010-4CEA-7632-BC1B33C61617}"/>
              </a:ext>
            </a:extLst>
          </p:cNvPr>
          <p:cNvSpPr txBox="1"/>
          <p:nvPr/>
        </p:nvSpPr>
        <p:spPr>
          <a:xfrm>
            <a:off x="3594359" y="2219000"/>
            <a:ext cx="47311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7A90B0"/>
                </a:solidFill>
              </a:rPr>
              <a:t>Geoai</a:t>
            </a:r>
            <a:r>
              <a:rPr lang="en-US" dirty="0">
                <a:solidFill>
                  <a:srgbClr val="7A90B0"/>
                </a:solidFill>
              </a:rPr>
              <a:t> is </a:t>
            </a:r>
            <a:r>
              <a:rPr lang="en-US" b="1" dirty="0">
                <a:solidFill>
                  <a:srgbClr val="4FC3F7"/>
                </a:solidFill>
              </a:rPr>
              <a:t>100% on-premise</a:t>
            </a:r>
          </a:p>
          <a:p>
            <a:endParaRPr lang="en-US" dirty="0">
              <a:solidFill>
                <a:srgbClr val="7A90B0"/>
              </a:solidFill>
            </a:endParaRPr>
          </a:p>
          <a:p>
            <a:r>
              <a:rPr lang="en-US" dirty="0">
                <a:solidFill>
                  <a:srgbClr val="7A90B0"/>
                </a:solidFill>
              </a:rPr>
              <a:t>Built for security</a:t>
            </a:r>
          </a:p>
          <a:p>
            <a:endParaRPr lang="en-US" dirty="0">
              <a:solidFill>
                <a:srgbClr val="7A90B0"/>
              </a:solidFill>
            </a:endParaRPr>
          </a:p>
          <a:p>
            <a:r>
              <a:rPr lang="en-US" dirty="0">
                <a:solidFill>
                  <a:srgbClr val="7A90B0"/>
                </a:solidFill>
              </a:rPr>
              <a:t>Buit for compliancy with GDPR, AI Act, traceability and government data sovereignty. Data never leaves the server. </a:t>
            </a:r>
          </a:p>
        </p:txBody>
      </p:sp>
    </p:spTree>
    <p:extLst>
      <p:ext uri="{BB962C8B-B14F-4D97-AF65-F5344CB8AC3E}">
        <p14:creationId xmlns:p14="http://schemas.microsoft.com/office/powerpoint/2010/main" val="782203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45DF3E-E9F0-B050-2747-922E54BCB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43D02A-14B5-5C37-FA07-D0A7FF3DC84F}"/>
              </a:ext>
            </a:extLst>
          </p:cNvPr>
          <p:cNvSpPr txBox="1"/>
          <p:nvPr/>
        </p:nvSpPr>
        <p:spPr>
          <a:xfrm>
            <a:off x="376613" y="294739"/>
            <a:ext cx="10908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4FC3F7"/>
                </a:solidFill>
              </a:rPr>
              <a:t>W</a:t>
            </a:r>
            <a:r>
              <a:rPr lang="en-US" sz="3200" b="1" i="0" dirty="0">
                <a:solidFill>
                  <a:srgbClr val="4FC3F7"/>
                </a:solidFill>
              </a:rPr>
              <a:t>hy</a:t>
            </a:r>
            <a:r>
              <a:rPr sz="3200" b="1" i="0" dirty="0">
                <a:solidFill>
                  <a:srgbClr val="4FC3F7"/>
                </a:solidFill>
              </a:rPr>
              <a:t> </a:t>
            </a:r>
            <a:r>
              <a:rPr lang="en-US" sz="3200" b="1" dirty="0" err="1">
                <a:solidFill>
                  <a:srgbClr val="4FC3F7"/>
                </a:solidFill>
              </a:rPr>
              <a:t>GeoAI</a:t>
            </a:r>
            <a:endParaRPr sz="3200" b="1" i="0" dirty="0">
              <a:solidFill>
                <a:srgbClr val="4FC3F7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6775B01-4A0C-2847-C32D-C28598445034}"/>
              </a:ext>
            </a:extLst>
          </p:cNvPr>
          <p:cNvSpPr/>
          <p:nvPr/>
        </p:nvSpPr>
        <p:spPr>
          <a:xfrm>
            <a:off x="2776402" y="1318485"/>
            <a:ext cx="5861988" cy="4999616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- Automations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6E3DCF-5975-D320-3D53-69E771353AAE}"/>
              </a:ext>
            </a:extLst>
          </p:cNvPr>
          <p:cNvSpPr txBox="1"/>
          <p:nvPr/>
        </p:nvSpPr>
        <p:spPr>
          <a:xfrm>
            <a:off x="4872956" y="5932302"/>
            <a:ext cx="1408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Call to action</a:t>
            </a:r>
            <a:endParaRPr lang="en-NL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1D8B6D-6D6B-9BC1-1727-1F68CB90F541}"/>
              </a:ext>
            </a:extLst>
          </p:cNvPr>
          <p:cNvSpPr txBox="1"/>
          <p:nvPr/>
        </p:nvSpPr>
        <p:spPr>
          <a:xfrm>
            <a:off x="4035496" y="4279728"/>
            <a:ext cx="4206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Automate any GIS workflow with AI Agents</a:t>
            </a:r>
            <a:endParaRPr lang="en-NL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B11379-0BE5-92AF-851B-D865A3200EE5}"/>
              </a:ext>
            </a:extLst>
          </p:cNvPr>
          <p:cNvSpPr txBox="1"/>
          <p:nvPr/>
        </p:nvSpPr>
        <p:spPr>
          <a:xfrm>
            <a:off x="7121562" y="4251064"/>
            <a:ext cx="4732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en-N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839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C77E5F-3304-F7BF-40A8-37D30BE61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7192B7-626B-F421-090D-50D6944196A8}"/>
              </a:ext>
            </a:extLst>
          </p:cNvPr>
          <p:cNvSpPr txBox="1"/>
          <p:nvPr/>
        </p:nvSpPr>
        <p:spPr>
          <a:xfrm>
            <a:off x="1363749" y="523622"/>
            <a:ext cx="10908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solidFill>
                  <a:srgbClr val="4FC3F7"/>
                </a:solidFill>
              </a:rPr>
              <a:t>Integrations</a:t>
            </a:r>
            <a:endParaRPr sz="3200" b="1" i="0" dirty="0">
              <a:solidFill>
                <a:srgbClr val="4FC3F7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7EF03D1-120B-5E79-15FB-CE03DCAFE293}"/>
              </a:ext>
            </a:extLst>
          </p:cNvPr>
          <p:cNvSpPr txBox="1"/>
          <p:nvPr/>
        </p:nvSpPr>
        <p:spPr>
          <a:xfrm>
            <a:off x="4227756" y="6488668"/>
            <a:ext cx="1975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Insert call to action</a:t>
            </a:r>
            <a:endParaRPr lang="en-NL" dirty="0">
              <a:solidFill>
                <a:srgbClr val="FF0000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394F9F6-A479-009B-CABE-9744F25A54BB}"/>
              </a:ext>
            </a:extLst>
          </p:cNvPr>
          <p:cNvSpPr/>
          <p:nvPr/>
        </p:nvSpPr>
        <p:spPr>
          <a:xfrm>
            <a:off x="4819426" y="4001845"/>
            <a:ext cx="1548464" cy="1506070"/>
          </a:xfrm>
          <a:prstGeom prst="ellipse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GeoAI</a:t>
            </a:r>
            <a:endParaRPr lang="en-NL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0DC9E31-277A-6BC5-DB87-CF2BAA5A895D}"/>
              </a:ext>
            </a:extLst>
          </p:cNvPr>
          <p:cNvSpPr/>
          <p:nvPr/>
        </p:nvSpPr>
        <p:spPr>
          <a:xfrm>
            <a:off x="7091082" y="3313329"/>
            <a:ext cx="2160493" cy="1506070"/>
          </a:xfrm>
          <a:prstGeom prst="ellipse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Geodatabase</a:t>
            </a:r>
            <a:endParaRPr lang="en-NL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C727273-5DC4-CDD8-D4D5-F8BE03E217C4}"/>
              </a:ext>
            </a:extLst>
          </p:cNvPr>
          <p:cNvSpPr/>
          <p:nvPr/>
        </p:nvSpPr>
        <p:spPr>
          <a:xfrm>
            <a:off x="10013173" y="3181560"/>
            <a:ext cx="2082653" cy="1606449"/>
          </a:xfrm>
          <a:prstGeom prst="ellipse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Answers </a:t>
            </a:r>
            <a:r>
              <a:rPr lang="en-US" dirty="0" err="1"/>
              <a:t>Quesations</a:t>
            </a:r>
            <a:endParaRPr lang="en-NL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B39CE4A-6AB7-9CC3-6F9E-DAFBBBCB45C0}"/>
              </a:ext>
            </a:extLst>
          </p:cNvPr>
          <p:cNvCxnSpPr>
            <a:cxnSpLocks/>
            <a:stCxn id="56" idx="6"/>
            <a:endCxn id="59" idx="2"/>
          </p:cNvCxnSpPr>
          <p:nvPr/>
        </p:nvCxnSpPr>
        <p:spPr>
          <a:xfrm flipV="1">
            <a:off x="6367890" y="4066364"/>
            <a:ext cx="723192" cy="68851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3E1C621-6308-73E8-F849-8F7F632101D4}"/>
              </a:ext>
            </a:extLst>
          </p:cNvPr>
          <p:cNvCxnSpPr>
            <a:cxnSpLocks/>
            <a:stCxn id="59" idx="6"/>
            <a:endCxn id="60" idx="2"/>
          </p:cNvCxnSpPr>
          <p:nvPr/>
        </p:nvCxnSpPr>
        <p:spPr>
          <a:xfrm flipV="1">
            <a:off x="9251575" y="3984785"/>
            <a:ext cx="761598" cy="8157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A421941C-DF22-7875-DA33-D93394D20BB2}"/>
              </a:ext>
            </a:extLst>
          </p:cNvPr>
          <p:cNvSpPr/>
          <p:nvPr/>
        </p:nvSpPr>
        <p:spPr>
          <a:xfrm>
            <a:off x="7184081" y="4951168"/>
            <a:ext cx="2160493" cy="1506070"/>
          </a:xfrm>
          <a:prstGeom prst="ellipse">
            <a:avLst/>
          </a:prstGeom>
          <a:noFill/>
          <a:ln w="57150">
            <a:solidFill>
              <a:srgbClr val="375B8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External  Data Sources: </a:t>
            </a:r>
            <a:br>
              <a:rPr lang="en-US" dirty="0"/>
            </a:br>
            <a:r>
              <a:rPr lang="en-US" dirty="0"/>
              <a:t>PDOK, NGR, </a:t>
            </a:r>
            <a:r>
              <a:rPr lang="en-US" dirty="0" err="1"/>
              <a:t>Kadaster</a:t>
            </a:r>
            <a:r>
              <a:rPr lang="en-US" dirty="0"/>
              <a:t>, KNMI,…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E479BC44-85B0-3352-C6AC-93FAD9F1D1AD}"/>
              </a:ext>
            </a:extLst>
          </p:cNvPr>
          <p:cNvSpPr/>
          <p:nvPr/>
        </p:nvSpPr>
        <p:spPr>
          <a:xfrm>
            <a:off x="9757622" y="4619392"/>
            <a:ext cx="1259820" cy="1138492"/>
          </a:xfrm>
          <a:prstGeom prst="ellipse">
            <a:avLst/>
          </a:prstGeom>
          <a:noFill/>
          <a:ln w="57150"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Fetch or Create Data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AAAC6A9-08CC-8400-6313-B092A9B00D61}"/>
              </a:ext>
            </a:extLst>
          </p:cNvPr>
          <p:cNvCxnSpPr>
            <a:cxnSpLocks/>
            <a:stCxn id="56" idx="5"/>
            <a:endCxn id="67" idx="2"/>
          </p:cNvCxnSpPr>
          <p:nvPr/>
        </p:nvCxnSpPr>
        <p:spPr>
          <a:xfrm>
            <a:off x="6141123" y="5287356"/>
            <a:ext cx="1042958" cy="416847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6AFCCC9-91B0-5845-C23D-33EED9A6C7DB}"/>
              </a:ext>
            </a:extLst>
          </p:cNvPr>
          <p:cNvCxnSpPr>
            <a:cxnSpLocks/>
            <a:stCxn id="67" idx="6"/>
            <a:endCxn id="68" idx="2"/>
          </p:cNvCxnSpPr>
          <p:nvPr/>
        </p:nvCxnSpPr>
        <p:spPr>
          <a:xfrm flipV="1">
            <a:off x="9344574" y="5188638"/>
            <a:ext cx="413048" cy="515565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A4588736-A8D9-2B75-354B-6D3B8287E7D2}"/>
              </a:ext>
            </a:extLst>
          </p:cNvPr>
          <p:cNvSpPr txBox="1"/>
          <p:nvPr/>
        </p:nvSpPr>
        <p:spPr>
          <a:xfrm rot="18431565">
            <a:off x="6030575" y="3840908"/>
            <a:ext cx="1302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Connects to</a:t>
            </a:r>
            <a:endParaRPr lang="en-NL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F00940F-F5AC-7A0C-34B9-AF6F1656F07A}"/>
              </a:ext>
            </a:extLst>
          </p:cNvPr>
          <p:cNvSpPr txBox="1"/>
          <p:nvPr/>
        </p:nvSpPr>
        <p:spPr>
          <a:xfrm rot="1899196">
            <a:off x="6008680" y="5003972"/>
            <a:ext cx="1302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Connects to</a:t>
            </a:r>
            <a:endParaRPr lang="en-NL" dirty="0">
              <a:solidFill>
                <a:schemeClr val="bg1"/>
              </a:solidFill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08108B12-49B0-2866-E0A5-01FF4D9231AA}"/>
              </a:ext>
            </a:extLst>
          </p:cNvPr>
          <p:cNvSpPr/>
          <p:nvPr/>
        </p:nvSpPr>
        <p:spPr>
          <a:xfrm>
            <a:off x="10562370" y="5627674"/>
            <a:ext cx="1607243" cy="1242890"/>
          </a:xfrm>
          <a:prstGeom prst="ellipse">
            <a:avLst/>
          </a:prstGeom>
          <a:noFill/>
          <a:ln w="57150"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Extract from satellite images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8C00899-05FF-A346-890A-E458B3B96BC1}"/>
              </a:ext>
            </a:extLst>
          </p:cNvPr>
          <p:cNvCxnSpPr>
            <a:cxnSpLocks/>
            <a:stCxn id="67" idx="6"/>
            <a:endCxn id="74" idx="2"/>
          </p:cNvCxnSpPr>
          <p:nvPr/>
        </p:nvCxnSpPr>
        <p:spPr>
          <a:xfrm>
            <a:off x="9344574" y="5704203"/>
            <a:ext cx="1217796" cy="544916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DACEBBB0-1B2A-F7E4-281D-70E23917CE56}"/>
              </a:ext>
            </a:extLst>
          </p:cNvPr>
          <p:cNvSpPr/>
          <p:nvPr/>
        </p:nvSpPr>
        <p:spPr>
          <a:xfrm>
            <a:off x="9251575" y="6424655"/>
            <a:ext cx="1607243" cy="1242890"/>
          </a:xfrm>
          <a:prstGeom prst="ellipse">
            <a:avLst/>
          </a:prstGeom>
          <a:noFill/>
          <a:ln w="57150"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Sensor Data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11E26B91-9179-0DF7-35CD-6A9499D1674F}"/>
              </a:ext>
            </a:extLst>
          </p:cNvPr>
          <p:cNvCxnSpPr>
            <a:cxnSpLocks/>
            <a:stCxn id="67" idx="6"/>
            <a:endCxn id="81" idx="2"/>
          </p:cNvCxnSpPr>
          <p:nvPr/>
        </p:nvCxnSpPr>
        <p:spPr>
          <a:xfrm flipH="1">
            <a:off x="9251575" y="5704203"/>
            <a:ext cx="92999" cy="1341897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E3F95912-0BB5-46CE-F621-D7B30022A5C7}"/>
              </a:ext>
            </a:extLst>
          </p:cNvPr>
          <p:cNvSpPr/>
          <p:nvPr/>
        </p:nvSpPr>
        <p:spPr>
          <a:xfrm>
            <a:off x="1926023" y="5627674"/>
            <a:ext cx="2160493" cy="1506070"/>
          </a:xfrm>
          <a:prstGeom prst="ellipse">
            <a:avLst/>
          </a:prstGeom>
          <a:noFill/>
          <a:ln w="57150">
            <a:solidFill>
              <a:srgbClr val="375B8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File System</a:t>
            </a:r>
            <a:endParaRPr lang="en-NL" dirty="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834320D5-EE8D-BD91-D7A4-9215CD3B3790}"/>
              </a:ext>
            </a:extLst>
          </p:cNvPr>
          <p:cNvSpPr/>
          <p:nvPr/>
        </p:nvSpPr>
        <p:spPr>
          <a:xfrm>
            <a:off x="-1171542" y="6965236"/>
            <a:ext cx="3043696" cy="2206716"/>
          </a:xfrm>
          <a:prstGeom prst="ellipse">
            <a:avLst/>
          </a:prstGeom>
          <a:noFill/>
          <a:ln w="57150"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Understands where is what: Python scripts , FME Scripts, SQL scripts, Documentations,....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62437F0-561D-9A2F-80EF-9837587F1920}"/>
              </a:ext>
            </a:extLst>
          </p:cNvPr>
          <p:cNvCxnSpPr>
            <a:cxnSpLocks/>
            <a:stCxn id="84" idx="2"/>
            <a:endCxn id="85" idx="6"/>
          </p:cNvCxnSpPr>
          <p:nvPr/>
        </p:nvCxnSpPr>
        <p:spPr>
          <a:xfrm flipH="1">
            <a:off x="1872154" y="6380709"/>
            <a:ext cx="53869" cy="1687885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198BF1A1-157C-A19A-C0E8-A9F9A6D29506}"/>
              </a:ext>
            </a:extLst>
          </p:cNvPr>
          <p:cNvSpPr/>
          <p:nvPr/>
        </p:nvSpPr>
        <p:spPr>
          <a:xfrm>
            <a:off x="-1411840" y="5803210"/>
            <a:ext cx="2076516" cy="1593212"/>
          </a:xfrm>
          <a:prstGeom prst="ellipse">
            <a:avLst/>
          </a:prstGeom>
          <a:noFill/>
          <a:ln w="57150"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Answer Questions,</a:t>
            </a:r>
          </a:p>
          <a:p>
            <a:r>
              <a:rPr lang="en-US" dirty="0"/>
              <a:t>and Run Scripts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65B1C17-E31D-702F-6596-C013AB055636}"/>
              </a:ext>
            </a:extLst>
          </p:cNvPr>
          <p:cNvCxnSpPr>
            <a:cxnSpLocks/>
            <a:stCxn id="84" idx="2"/>
            <a:endCxn id="89" idx="6"/>
          </p:cNvCxnSpPr>
          <p:nvPr/>
        </p:nvCxnSpPr>
        <p:spPr>
          <a:xfrm flipH="1">
            <a:off x="664676" y="6380709"/>
            <a:ext cx="1261347" cy="219107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7562A5FF-2179-A209-421E-061A50B72C1C}"/>
              </a:ext>
            </a:extLst>
          </p:cNvPr>
          <p:cNvSpPr/>
          <p:nvPr/>
        </p:nvSpPr>
        <p:spPr>
          <a:xfrm>
            <a:off x="-2160364" y="4522738"/>
            <a:ext cx="1607243" cy="1242890"/>
          </a:xfrm>
          <a:prstGeom prst="ellipse">
            <a:avLst/>
          </a:prstGeom>
          <a:noFill/>
          <a:ln w="57150"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Write and Modify</a:t>
            </a:r>
            <a:br>
              <a:rPr lang="en-US" dirty="0"/>
            </a:br>
            <a:r>
              <a:rPr lang="en-US" dirty="0"/>
              <a:t>Scripts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812904EE-BD69-418B-DA9A-C45E9B2352AA}"/>
              </a:ext>
            </a:extLst>
          </p:cNvPr>
          <p:cNvCxnSpPr>
            <a:cxnSpLocks/>
            <a:stCxn id="84" idx="2"/>
            <a:endCxn id="91" idx="5"/>
          </p:cNvCxnSpPr>
          <p:nvPr/>
        </p:nvCxnSpPr>
        <p:spPr>
          <a:xfrm flipH="1" flipV="1">
            <a:off x="-788496" y="5583611"/>
            <a:ext cx="2714519" cy="797098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>
            <a:extLst>
              <a:ext uri="{FF2B5EF4-FFF2-40B4-BE49-F238E27FC236}">
                <a16:creationId xmlns:a16="http://schemas.microsoft.com/office/drawing/2014/main" id="{34ED0B5E-3A5C-2432-4B1E-05CFE95D438B}"/>
              </a:ext>
            </a:extLst>
          </p:cNvPr>
          <p:cNvSpPr/>
          <p:nvPr/>
        </p:nvSpPr>
        <p:spPr>
          <a:xfrm>
            <a:off x="1641599" y="3769697"/>
            <a:ext cx="2160493" cy="1506070"/>
          </a:xfrm>
          <a:prstGeom prst="ellipse">
            <a:avLst/>
          </a:prstGeom>
          <a:noFill/>
          <a:ln w="57150">
            <a:solidFill>
              <a:srgbClr val="375B8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Task Board: Azure ADO, SAP, </a:t>
            </a:r>
            <a:r>
              <a:rPr lang="en-US" dirty="0" err="1"/>
              <a:t>etc</a:t>
            </a:r>
            <a:endParaRPr lang="en-NL" dirty="0"/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A3E1BB53-B256-1502-9687-C2686686C229}"/>
              </a:ext>
            </a:extLst>
          </p:cNvPr>
          <p:cNvCxnSpPr>
            <a:cxnSpLocks/>
            <a:endCxn id="84" idx="6"/>
          </p:cNvCxnSpPr>
          <p:nvPr/>
        </p:nvCxnSpPr>
        <p:spPr>
          <a:xfrm flipH="1">
            <a:off x="4086516" y="5287356"/>
            <a:ext cx="959677" cy="1093353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5C000E05-E6CF-67A1-B181-706A987B87C7}"/>
              </a:ext>
            </a:extLst>
          </p:cNvPr>
          <p:cNvSpPr txBox="1"/>
          <p:nvPr/>
        </p:nvSpPr>
        <p:spPr>
          <a:xfrm rot="18311999">
            <a:off x="3692156" y="5330093"/>
            <a:ext cx="1302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Connects to</a:t>
            </a:r>
            <a:endParaRPr lang="en-NL" dirty="0">
              <a:solidFill>
                <a:schemeClr val="bg1"/>
              </a:solidFill>
            </a:endParaRP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7B5EA504-5B14-BA68-CB84-240DD09BE91E}"/>
              </a:ext>
            </a:extLst>
          </p:cNvPr>
          <p:cNvCxnSpPr>
            <a:cxnSpLocks/>
            <a:stCxn id="56" idx="2"/>
          </p:cNvCxnSpPr>
          <p:nvPr/>
        </p:nvCxnSpPr>
        <p:spPr>
          <a:xfrm flipH="1">
            <a:off x="3744830" y="4754880"/>
            <a:ext cx="1074596" cy="163472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43BDBD9F-C404-738B-5A12-52EC7C8F9432}"/>
              </a:ext>
            </a:extLst>
          </p:cNvPr>
          <p:cNvSpPr txBox="1"/>
          <p:nvPr/>
        </p:nvSpPr>
        <p:spPr>
          <a:xfrm rot="21153300">
            <a:off x="3857275" y="4352566"/>
            <a:ext cx="1302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Connects to</a:t>
            </a:r>
            <a:endParaRPr lang="en-NL" dirty="0">
              <a:solidFill>
                <a:schemeClr val="bg1"/>
              </a:solidFill>
            </a:endParaRP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6F4EF79D-20CB-77CA-3C1F-575559185502}"/>
              </a:ext>
            </a:extLst>
          </p:cNvPr>
          <p:cNvSpPr/>
          <p:nvPr/>
        </p:nvSpPr>
        <p:spPr>
          <a:xfrm>
            <a:off x="-2926079" y="2361421"/>
            <a:ext cx="4086434" cy="2388869"/>
          </a:xfrm>
          <a:prstGeom prst="ellipse">
            <a:avLst/>
          </a:prstGeom>
          <a:noFill/>
          <a:ln w="57150">
            <a:solidFill>
              <a:srgbClr val="375B8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Understand which data, scripts, web apps, ... is related to the problem. </a:t>
            </a:r>
          </a:p>
          <a:p>
            <a:r>
              <a:rPr lang="en-US" dirty="0"/>
              <a:t>search history of relevant tickets. </a:t>
            </a:r>
          </a:p>
          <a:p>
            <a:r>
              <a:rPr lang="en-US" dirty="0"/>
              <a:t>propose a solution pointing to a file, script, app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482D934C-0C05-1C62-DA2A-C8AA216A0EAF}"/>
              </a:ext>
            </a:extLst>
          </p:cNvPr>
          <p:cNvCxnSpPr>
            <a:cxnSpLocks/>
            <a:stCxn id="112" idx="2"/>
            <a:endCxn id="120" idx="6"/>
          </p:cNvCxnSpPr>
          <p:nvPr/>
        </p:nvCxnSpPr>
        <p:spPr>
          <a:xfrm flipH="1" flipV="1">
            <a:off x="1160355" y="3555856"/>
            <a:ext cx="481244" cy="966876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Oval 124">
            <a:extLst>
              <a:ext uri="{FF2B5EF4-FFF2-40B4-BE49-F238E27FC236}">
                <a16:creationId xmlns:a16="http://schemas.microsoft.com/office/drawing/2014/main" id="{BE3B18CE-C4CA-B39F-796A-1EB0E86213BE}"/>
              </a:ext>
            </a:extLst>
          </p:cNvPr>
          <p:cNvSpPr/>
          <p:nvPr/>
        </p:nvSpPr>
        <p:spPr>
          <a:xfrm>
            <a:off x="2120672" y="2103543"/>
            <a:ext cx="2160493" cy="1506070"/>
          </a:xfrm>
          <a:prstGeom prst="ellipse">
            <a:avLst/>
          </a:prstGeom>
          <a:noFill/>
          <a:ln w="57150">
            <a:solidFill>
              <a:srgbClr val="375B8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 Viewers</a:t>
            </a:r>
            <a:endParaRPr lang="en-NL" dirty="0"/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693DF20-850C-40F5-CC8C-4DEE8E40906E}"/>
              </a:ext>
            </a:extLst>
          </p:cNvPr>
          <p:cNvCxnSpPr>
            <a:cxnSpLocks/>
            <a:stCxn id="56" idx="1"/>
          </p:cNvCxnSpPr>
          <p:nvPr/>
        </p:nvCxnSpPr>
        <p:spPr>
          <a:xfrm flipH="1" flipV="1">
            <a:off x="4223903" y="3252198"/>
            <a:ext cx="822290" cy="970206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55D6FC61-07D6-43AC-8EA8-011B88B8A185}"/>
              </a:ext>
            </a:extLst>
          </p:cNvPr>
          <p:cNvSpPr txBox="1"/>
          <p:nvPr/>
        </p:nvSpPr>
        <p:spPr>
          <a:xfrm rot="3017632">
            <a:off x="4370839" y="3345845"/>
            <a:ext cx="1302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Connects to</a:t>
            </a:r>
            <a:endParaRPr lang="en-NL" dirty="0">
              <a:solidFill>
                <a:schemeClr val="bg1"/>
              </a:solidFill>
            </a:endParaRP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1AF1C766-1EB7-FF4B-19EA-BECA74EC3F47}"/>
              </a:ext>
            </a:extLst>
          </p:cNvPr>
          <p:cNvSpPr/>
          <p:nvPr/>
        </p:nvSpPr>
        <p:spPr>
          <a:xfrm>
            <a:off x="-2492676" y="1054388"/>
            <a:ext cx="2271865" cy="1242890"/>
          </a:xfrm>
          <a:prstGeom prst="ellipse">
            <a:avLst/>
          </a:prstGeom>
          <a:noFill/>
          <a:ln w="57150">
            <a:solidFill>
              <a:srgbClr val="375B8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Updates the Web Viewer</a:t>
            </a: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97817299-0C20-7456-955F-9B28278D3577}"/>
              </a:ext>
            </a:extLst>
          </p:cNvPr>
          <p:cNvCxnSpPr>
            <a:cxnSpLocks/>
            <a:stCxn id="125" idx="2"/>
            <a:endCxn id="129" idx="6"/>
          </p:cNvCxnSpPr>
          <p:nvPr/>
        </p:nvCxnSpPr>
        <p:spPr>
          <a:xfrm flipH="1" flipV="1">
            <a:off x="-220811" y="1675833"/>
            <a:ext cx="2341483" cy="1180745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D66A90D6-9428-C421-8B1D-F5E469A9C2E9}"/>
              </a:ext>
            </a:extLst>
          </p:cNvPr>
          <p:cNvSpPr/>
          <p:nvPr/>
        </p:nvSpPr>
        <p:spPr>
          <a:xfrm>
            <a:off x="3554801" y="502717"/>
            <a:ext cx="2160493" cy="1506070"/>
          </a:xfrm>
          <a:prstGeom prst="ellipse">
            <a:avLst/>
          </a:prstGeom>
          <a:noFill/>
          <a:ln w="57150">
            <a:solidFill>
              <a:srgbClr val="375B8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Connect </a:t>
            </a:r>
            <a:r>
              <a:rPr lang="en-US" dirty="0" err="1"/>
              <a:t>toGIS</a:t>
            </a:r>
            <a:r>
              <a:rPr lang="en-US" dirty="0"/>
              <a:t> Servers: OGC API, </a:t>
            </a:r>
            <a:r>
              <a:rPr lang="en-US" dirty="0" err="1"/>
              <a:t>GeoServer</a:t>
            </a:r>
            <a:r>
              <a:rPr lang="en-US" dirty="0"/>
              <a:t>, ArcGIS Server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B5F8968-13E8-FE8D-B522-C5BBA0A6C860}"/>
              </a:ext>
            </a:extLst>
          </p:cNvPr>
          <p:cNvCxnSpPr>
            <a:cxnSpLocks/>
            <a:stCxn id="56" idx="0"/>
            <a:endCxn id="7" idx="4"/>
          </p:cNvCxnSpPr>
          <p:nvPr/>
        </p:nvCxnSpPr>
        <p:spPr>
          <a:xfrm flipH="1" flipV="1">
            <a:off x="4635048" y="2008787"/>
            <a:ext cx="958610" cy="1993058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3F107F9-AEA4-D7A2-FF6C-9A0B9E52ADCC}"/>
              </a:ext>
            </a:extLst>
          </p:cNvPr>
          <p:cNvSpPr txBox="1"/>
          <p:nvPr/>
        </p:nvSpPr>
        <p:spPr>
          <a:xfrm rot="3017632">
            <a:off x="4910514" y="2662033"/>
            <a:ext cx="1302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Connects to</a:t>
            </a:r>
            <a:endParaRPr lang="en-NL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93785B4-5498-B59C-15F4-DF65B95F21E4}"/>
              </a:ext>
            </a:extLst>
          </p:cNvPr>
          <p:cNvSpPr/>
          <p:nvPr/>
        </p:nvSpPr>
        <p:spPr>
          <a:xfrm>
            <a:off x="-1077151" y="-159687"/>
            <a:ext cx="2271865" cy="1242890"/>
          </a:xfrm>
          <a:prstGeom prst="ellipse">
            <a:avLst/>
          </a:prstGeom>
          <a:noFill/>
          <a:ln w="57150">
            <a:solidFill>
              <a:srgbClr val="375B8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DevOps: Publish a WFS/WMS, ArcGIS Service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4147CC-3368-E484-BB47-43B103460E14}"/>
              </a:ext>
            </a:extLst>
          </p:cNvPr>
          <p:cNvCxnSpPr>
            <a:cxnSpLocks/>
          </p:cNvCxnSpPr>
          <p:nvPr/>
        </p:nvCxnSpPr>
        <p:spPr>
          <a:xfrm flipH="1" flipV="1">
            <a:off x="1162440" y="461758"/>
            <a:ext cx="2360087" cy="793994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6DB1034-E16F-ADDC-7767-3BCA9438A316}"/>
              </a:ext>
            </a:extLst>
          </p:cNvPr>
          <p:cNvSpPr txBox="1"/>
          <p:nvPr/>
        </p:nvSpPr>
        <p:spPr>
          <a:xfrm>
            <a:off x="8939623" y="479736"/>
            <a:ext cx="3792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in graph form</a:t>
            </a:r>
          </a:p>
          <a:p>
            <a:r>
              <a:rPr lang="en-US" dirty="0">
                <a:solidFill>
                  <a:srgbClr val="FF0000"/>
                </a:solidFill>
              </a:rPr>
              <a:t>Second circle pups up on mouse hover</a:t>
            </a:r>
            <a:endParaRPr lang="en-NL" dirty="0">
              <a:solidFill>
                <a:srgbClr val="FF0000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EF6C6E1-9A1B-E25E-F40B-1D78E3B5031C}"/>
              </a:ext>
            </a:extLst>
          </p:cNvPr>
          <p:cNvCxnSpPr/>
          <p:nvPr/>
        </p:nvCxnSpPr>
        <p:spPr>
          <a:xfrm>
            <a:off x="9122485" y="2227536"/>
            <a:ext cx="1000461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9C31729-E961-A42B-6711-309DADD271A5}"/>
              </a:ext>
            </a:extLst>
          </p:cNvPr>
          <p:cNvCxnSpPr/>
          <p:nvPr/>
        </p:nvCxnSpPr>
        <p:spPr>
          <a:xfrm>
            <a:off x="9122485" y="2530543"/>
            <a:ext cx="1000461" cy="0"/>
          </a:xfrm>
          <a:prstGeom prst="line">
            <a:avLst/>
          </a:prstGeom>
          <a:ln w="571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71039E9-E0A6-9E10-AB34-895FE56BFF75}"/>
              </a:ext>
            </a:extLst>
          </p:cNvPr>
          <p:cNvSpPr txBox="1"/>
          <p:nvPr/>
        </p:nvSpPr>
        <p:spPr>
          <a:xfrm>
            <a:off x="10336242" y="2021745"/>
            <a:ext cx="1759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Current Features</a:t>
            </a:r>
            <a:endParaRPr lang="en-NL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0FE239-8020-B352-9B89-E7A3C689AEF9}"/>
              </a:ext>
            </a:extLst>
          </p:cNvPr>
          <p:cNvSpPr txBox="1"/>
          <p:nvPr/>
        </p:nvSpPr>
        <p:spPr>
          <a:xfrm>
            <a:off x="10336242" y="2361421"/>
            <a:ext cx="1936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Roadmap Features</a:t>
            </a:r>
            <a:endParaRPr lang="en-NL" dirty="0">
              <a:solidFill>
                <a:schemeClr val="bg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932466C-8ABA-968B-61E9-0C76C081D552}"/>
              </a:ext>
            </a:extLst>
          </p:cNvPr>
          <p:cNvSpPr/>
          <p:nvPr/>
        </p:nvSpPr>
        <p:spPr>
          <a:xfrm>
            <a:off x="6217539" y="267834"/>
            <a:ext cx="2160493" cy="1506070"/>
          </a:xfrm>
          <a:prstGeom prst="ellipse">
            <a:avLst/>
          </a:prstGeom>
          <a:noFill/>
          <a:ln w="57150">
            <a:solidFill>
              <a:srgbClr val="375B8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ETL, Data Engineering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9FC1CE7-D32A-7D3B-ECCC-95F1AAAB41BB}"/>
              </a:ext>
            </a:extLst>
          </p:cNvPr>
          <p:cNvCxnSpPr>
            <a:cxnSpLocks/>
            <a:endCxn id="23" idx="4"/>
          </p:cNvCxnSpPr>
          <p:nvPr/>
        </p:nvCxnSpPr>
        <p:spPr>
          <a:xfrm flipV="1">
            <a:off x="5947541" y="1773904"/>
            <a:ext cx="1350245" cy="2292460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CC171D0-B700-620E-43BD-8C5AFF424ED8}"/>
              </a:ext>
            </a:extLst>
          </p:cNvPr>
          <p:cNvSpPr txBox="1"/>
          <p:nvPr/>
        </p:nvSpPr>
        <p:spPr>
          <a:xfrm rot="18175570">
            <a:off x="5717216" y="2576541"/>
            <a:ext cx="1302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Connects to</a:t>
            </a:r>
            <a:endParaRPr lang="en-NL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ADA74E-7A41-EDD1-E6C9-8AFF25771E6A}"/>
              </a:ext>
            </a:extLst>
          </p:cNvPr>
          <p:cNvSpPr txBox="1"/>
          <p:nvPr/>
        </p:nvSpPr>
        <p:spPr>
          <a:xfrm>
            <a:off x="554287" y="59577"/>
            <a:ext cx="10908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4FC3F7"/>
                </a:solidFill>
              </a:rPr>
              <a:t>W</a:t>
            </a:r>
            <a:r>
              <a:rPr lang="en-US" sz="3200" b="1" i="0" dirty="0">
                <a:solidFill>
                  <a:srgbClr val="4FC3F7"/>
                </a:solidFill>
              </a:rPr>
              <a:t>hy</a:t>
            </a:r>
            <a:r>
              <a:rPr sz="3200" b="1" i="0" dirty="0">
                <a:solidFill>
                  <a:srgbClr val="4FC3F7"/>
                </a:solidFill>
              </a:rPr>
              <a:t> </a:t>
            </a:r>
            <a:r>
              <a:rPr lang="en-US" sz="3200" b="1" dirty="0" err="1">
                <a:solidFill>
                  <a:srgbClr val="4FC3F7"/>
                </a:solidFill>
              </a:rPr>
              <a:t>GeoAI</a:t>
            </a:r>
            <a:endParaRPr sz="3200" b="1" i="0" dirty="0">
              <a:solidFill>
                <a:srgbClr val="4FC3F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076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CCB4F1-DD96-C935-F6B4-9BA319807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17421E-8195-7635-8159-B2CF80F26103}"/>
              </a:ext>
            </a:extLst>
          </p:cNvPr>
          <p:cNvSpPr txBox="1"/>
          <p:nvPr/>
        </p:nvSpPr>
        <p:spPr>
          <a:xfrm>
            <a:off x="640080" y="502920"/>
            <a:ext cx="10908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4FC3F7"/>
                </a:solidFill>
              </a:rPr>
              <a:t>Try it out!</a:t>
            </a:r>
            <a:endParaRPr sz="3200" b="1" i="0" dirty="0">
              <a:solidFill>
                <a:srgbClr val="4FC3F7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F3D903-A611-C617-7C4F-FDD15F201148}"/>
              </a:ext>
            </a:extLst>
          </p:cNvPr>
          <p:cNvSpPr txBox="1"/>
          <p:nvPr/>
        </p:nvSpPr>
        <p:spPr>
          <a:xfrm>
            <a:off x="669545" y="1145645"/>
            <a:ext cx="109087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</a:rPr>
              <a:t>Link to the demo page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4E9826-9EDF-D7BC-46DD-3958CEA044A3}"/>
              </a:ext>
            </a:extLst>
          </p:cNvPr>
          <p:cNvSpPr txBox="1"/>
          <p:nvPr/>
        </p:nvSpPr>
        <p:spPr>
          <a:xfrm>
            <a:off x="640080" y="1977987"/>
            <a:ext cx="5760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Tested on +200  most common GIS use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Indexed 287+ Layers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Improving the reliability of answers everyday</a:t>
            </a:r>
            <a:endParaRPr lang="en-NL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235B9B-70F9-4472-D760-5296D72C72AE}"/>
              </a:ext>
            </a:extLst>
          </p:cNvPr>
          <p:cNvSpPr txBox="1"/>
          <p:nvPr/>
        </p:nvSpPr>
        <p:spPr>
          <a:xfrm>
            <a:off x="4715222" y="5749677"/>
            <a:ext cx="1408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Call to action</a:t>
            </a:r>
            <a:endParaRPr lang="en-N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038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B46F18-57F1-51B5-564E-1C911597D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80E9AB-7014-FADE-F108-8CE8EF5EE449}"/>
              </a:ext>
            </a:extLst>
          </p:cNvPr>
          <p:cNvSpPr txBox="1"/>
          <p:nvPr/>
        </p:nvSpPr>
        <p:spPr>
          <a:xfrm>
            <a:off x="640080" y="502920"/>
            <a:ext cx="10908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solidFill>
                  <a:srgbClr val="4FC3F7"/>
                </a:solidFill>
              </a:rPr>
              <a:t>For Who?</a:t>
            </a:r>
            <a:endParaRPr sz="3200" b="1" i="0" dirty="0">
              <a:solidFill>
                <a:srgbClr val="4FC3F7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663B86-313D-1074-A8A6-5E54B9119D6A}"/>
              </a:ext>
            </a:extLst>
          </p:cNvPr>
          <p:cNvSpPr/>
          <p:nvPr/>
        </p:nvSpPr>
        <p:spPr>
          <a:xfrm>
            <a:off x="640080" y="1381368"/>
            <a:ext cx="2103120" cy="6560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Government</a:t>
            </a:r>
            <a:endParaRPr lang="en-N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7E6C10-6DF9-C79A-0CDF-81ED358AF4A9}"/>
              </a:ext>
            </a:extLst>
          </p:cNvPr>
          <p:cNvSpPr/>
          <p:nvPr/>
        </p:nvSpPr>
        <p:spPr>
          <a:xfrm>
            <a:off x="2920413" y="1352513"/>
            <a:ext cx="2103120" cy="7137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Energy and Utilities</a:t>
            </a:r>
            <a:endParaRPr lang="en-N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600A93-E53B-D56C-6B00-19F744723326}"/>
              </a:ext>
            </a:extLst>
          </p:cNvPr>
          <p:cNvSpPr/>
          <p:nvPr/>
        </p:nvSpPr>
        <p:spPr>
          <a:xfrm>
            <a:off x="5200746" y="1415707"/>
            <a:ext cx="2103120" cy="5873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Construction</a:t>
            </a:r>
            <a:endParaRPr lang="en-N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0DD194-4851-E00F-893D-0C6164233582}"/>
              </a:ext>
            </a:extLst>
          </p:cNvPr>
          <p:cNvSpPr/>
          <p:nvPr/>
        </p:nvSpPr>
        <p:spPr>
          <a:xfrm>
            <a:off x="7481079" y="1415707"/>
            <a:ext cx="2103120" cy="565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Environment</a:t>
            </a:r>
            <a:endParaRPr lang="en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78AA53-B3B6-61BA-9295-74CE7AD4EEBD}"/>
              </a:ext>
            </a:extLst>
          </p:cNvPr>
          <p:cNvSpPr/>
          <p:nvPr/>
        </p:nvSpPr>
        <p:spPr>
          <a:xfrm>
            <a:off x="9761412" y="1426733"/>
            <a:ext cx="2103120" cy="565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Telecom</a:t>
            </a:r>
            <a:endParaRPr lang="en-N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3014946-2211-96FA-AFE0-C4F1CF70028A}"/>
              </a:ext>
            </a:extLst>
          </p:cNvPr>
          <p:cNvSpPr/>
          <p:nvPr/>
        </p:nvSpPr>
        <p:spPr>
          <a:xfrm>
            <a:off x="12041745" y="1472101"/>
            <a:ext cx="2103120" cy="565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Real Estate</a:t>
            </a:r>
            <a:endParaRPr lang="en-NL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0EE687-9BDF-C221-F5FA-1A1E3FA45148}"/>
              </a:ext>
            </a:extLst>
          </p:cNvPr>
          <p:cNvSpPr/>
          <p:nvPr/>
        </p:nvSpPr>
        <p:spPr>
          <a:xfrm>
            <a:off x="921571" y="2331066"/>
            <a:ext cx="2103120" cy="6560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Municipalities</a:t>
            </a:r>
            <a:endParaRPr lang="en-NL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51451B-3623-1AA9-9D77-B9F2FB076270}"/>
              </a:ext>
            </a:extLst>
          </p:cNvPr>
          <p:cNvSpPr/>
          <p:nvPr/>
        </p:nvSpPr>
        <p:spPr>
          <a:xfrm>
            <a:off x="921571" y="3159405"/>
            <a:ext cx="2103120" cy="6560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waterschappen</a:t>
            </a:r>
            <a:endParaRPr lang="en-NL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3ECE83-3C3B-E844-16F0-77A514FEF7E5}"/>
              </a:ext>
            </a:extLst>
          </p:cNvPr>
          <p:cNvSpPr/>
          <p:nvPr/>
        </p:nvSpPr>
        <p:spPr>
          <a:xfrm>
            <a:off x="921571" y="3987744"/>
            <a:ext cx="2103120" cy="6560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Provincies</a:t>
            </a:r>
            <a:endParaRPr lang="en-NL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E59359-7867-21A8-592A-626F605FC69B}"/>
              </a:ext>
            </a:extLst>
          </p:cNvPr>
          <p:cNvSpPr/>
          <p:nvPr/>
        </p:nvSpPr>
        <p:spPr>
          <a:xfrm>
            <a:off x="921571" y="4764635"/>
            <a:ext cx="2103120" cy="12273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Ministries</a:t>
            </a:r>
          </a:p>
          <a:p>
            <a:pPr algn="ctr"/>
            <a:r>
              <a:rPr lang="en-US" dirty="0"/>
              <a:t>MBZ</a:t>
            </a:r>
          </a:p>
          <a:p>
            <a:pPr algn="ctr"/>
            <a:r>
              <a:rPr lang="en-US" dirty="0"/>
              <a:t>RWS</a:t>
            </a:r>
          </a:p>
          <a:p>
            <a:pPr algn="ctr"/>
            <a:r>
              <a:rPr lang="en-US" dirty="0"/>
              <a:t>RIVM</a:t>
            </a:r>
            <a:endParaRPr lang="en-NL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6A58D0D-D748-2295-2069-A63A44519765}"/>
              </a:ext>
            </a:extLst>
          </p:cNvPr>
          <p:cNvSpPr/>
          <p:nvPr/>
        </p:nvSpPr>
        <p:spPr>
          <a:xfrm>
            <a:off x="3300804" y="2284813"/>
            <a:ext cx="2103120" cy="6560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Gas</a:t>
            </a:r>
            <a:endParaRPr lang="en-NL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543DB6-52C5-C154-0B02-6F70AF0E02E6}"/>
              </a:ext>
            </a:extLst>
          </p:cNvPr>
          <p:cNvSpPr/>
          <p:nvPr/>
        </p:nvSpPr>
        <p:spPr>
          <a:xfrm>
            <a:off x="3322319" y="3139492"/>
            <a:ext cx="2103120" cy="6560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Electricity</a:t>
            </a:r>
            <a:endParaRPr lang="en-NL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B9E18F4-E260-3D97-BB81-6C046575EF0A}"/>
              </a:ext>
            </a:extLst>
          </p:cNvPr>
          <p:cNvSpPr/>
          <p:nvPr/>
        </p:nvSpPr>
        <p:spPr>
          <a:xfrm>
            <a:off x="3322319" y="3987744"/>
            <a:ext cx="2103120" cy="6560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Water</a:t>
            </a:r>
            <a:endParaRPr lang="en-NL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4D73764-D2B1-E604-190D-45DCA4A28C27}"/>
              </a:ext>
            </a:extLst>
          </p:cNvPr>
          <p:cNvSpPr/>
          <p:nvPr/>
        </p:nvSpPr>
        <p:spPr>
          <a:xfrm>
            <a:off x="5680037" y="2255957"/>
            <a:ext cx="2103120" cy="6560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Urban Planning</a:t>
            </a:r>
            <a:endParaRPr lang="en-NL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9E4304-0DAB-990C-4A29-F21B5D6D90BC}"/>
              </a:ext>
            </a:extLst>
          </p:cNvPr>
          <p:cNvSpPr txBox="1"/>
          <p:nvPr/>
        </p:nvSpPr>
        <p:spPr>
          <a:xfrm>
            <a:off x="3934321" y="852426"/>
            <a:ext cx="1771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Could be a graph</a:t>
            </a:r>
            <a:endParaRPr lang="en-NL" dirty="0"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AE7FD09-B7E3-488A-B3A2-3C79E09362BF}"/>
              </a:ext>
            </a:extLst>
          </p:cNvPr>
          <p:cNvSpPr txBox="1"/>
          <p:nvPr/>
        </p:nvSpPr>
        <p:spPr>
          <a:xfrm>
            <a:off x="6252306" y="6170414"/>
            <a:ext cx="1408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Call to action</a:t>
            </a:r>
            <a:endParaRPr lang="en-NL" dirty="0">
              <a:solidFill>
                <a:srgbClr val="FF0000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2ECEFE6-628A-815D-CC7D-A221BE2B5076}"/>
              </a:ext>
            </a:extLst>
          </p:cNvPr>
          <p:cNvSpPr/>
          <p:nvPr/>
        </p:nvSpPr>
        <p:spPr>
          <a:xfrm>
            <a:off x="5023533" y="5077609"/>
            <a:ext cx="4314105" cy="1000462"/>
          </a:xfrm>
          <a:prstGeom prst="roundRect">
            <a:avLst/>
          </a:prstGeom>
          <a:solidFill>
            <a:srgbClr val="375B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Discover how Orion </a:t>
            </a:r>
            <a:r>
              <a:rPr lang="en-US" dirty="0" err="1"/>
              <a:t>GeoAI</a:t>
            </a:r>
            <a:r>
              <a:rPr lang="en-US" dirty="0"/>
              <a:t> can be tailor made for your unique use cases</a:t>
            </a:r>
            <a:endParaRPr lang="en-NL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BDA80E8-37B4-7961-77B0-D258FC1061F5}"/>
              </a:ext>
            </a:extLst>
          </p:cNvPr>
          <p:cNvSpPr txBox="1"/>
          <p:nvPr/>
        </p:nvSpPr>
        <p:spPr>
          <a:xfrm>
            <a:off x="4903090" y="4729544"/>
            <a:ext cx="3929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How could </a:t>
            </a:r>
            <a:r>
              <a:rPr lang="en-US" dirty="0" err="1">
                <a:solidFill>
                  <a:schemeClr val="bg1"/>
                </a:solidFill>
              </a:rPr>
              <a:t>GeoAI</a:t>
            </a:r>
            <a:r>
              <a:rPr lang="en-US" dirty="0">
                <a:solidFill>
                  <a:schemeClr val="bg1"/>
                </a:solidFill>
              </a:rPr>
              <a:t> help my organization?</a:t>
            </a:r>
            <a:endParaRPr lang="en-N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409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5E228DFD-43CB-64E1-2821-FDB9636FE77C}"/>
              </a:ext>
            </a:extLst>
          </p:cNvPr>
          <p:cNvSpPr/>
          <p:nvPr/>
        </p:nvSpPr>
        <p:spPr>
          <a:xfrm>
            <a:off x="3232770" y="2065687"/>
            <a:ext cx="4726936" cy="4500753"/>
          </a:xfrm>
          <a:prstGeom prst="ellipse">
            <a:avLst/>
          </a:prstGeom>
          <a:solidFill>
            <a:srgbClr val="375B8A"/>
          </a:solidFill>
          <a:ln>
            <a:solidFill>
              <a:srgbClr val="37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8250C6A0-38C8-4C7A-E013-5447C2537B9D}"/>
              </a:ext>
            </a:extLst>
          </p:cNvPr>
          <p:cNvSpPr/>
          <p:nvPr/>
        </p:nvSpPr>
        <p:spPr>
          <a:xfrm>
            <a:off x="8356436" y="3173067"/>
            <a:ext cx="3022981" cy="23865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40080" y="502920"/>
            <a:ext cx="10908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solidFill>
                  <a:srgbClr val="4FC3F7"/>
                </a:solidFill>
              </a:rPr>
              <a:t>How it work?</a:t>
            </a:r>
            <a:endParaRPr sz="3200" b="1" i="0" dirty="0">
              <a:solidFill>
                <a:srgbClr val="4FC3F7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8431" y="1106679"/>
            <a:ext cx="109087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</a:rPr>
              <a:t>Multi-Agentic Geo RAG Framework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958530" y="4207048"/>
            <a:ext cx="2344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Generate</a:t>
            </a:r>
            <a:r>
              <a:rPr lang="en-US" sz="1600" dirty="0">
                <a:solidFill>
                  <a:schemeClr val="bg1"/>
                </a:solidFill>
              </a:rPr>
              <a:t> Report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69423" y="1288883"/>
            <a:ext cx="2718807" cy="1596984"/>
          </a:xfrm>
          <a:prstGeom prst="rect">
            <a:avLst/>
          </a:prstGeom>
          <a:solidFill>
            <a:srgbClr val="14203A"/>
          </a:solidFill>
          <a:ln w="9525">
            <a:solidFill>
              <a:srgbClr val="25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2" name="TextBox 31"/>
          <p:cNvSpPr txBox="1"/>
          <p:nvPr/>
        </p:nvSpPr>
        <p:spPr>
          <a:xfrm>
            <a:off x="8422947" y="1405220"/>
            <a:ext cx="247250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FFFFF"/>
                </a:solidFill>
              </a:rPr>
              <a:t>Reliable</a:t>
            </a:r>
            <a:endParaRPr lang="en-US" sz="2000" b="1" dirty="0">
              <a:solidFill>
                <a:srgbClr val="FFFFFF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FFFFF"/>
                </a:solidFill>
              </a:rPr>
              <a:t>Consistent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FF"/>
                </a:solidFill>
              </a:rPr>
              <a:t>Secure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FF"/>
                </a:solidFill>
              </a:rPr>
              <a:t>Hardware Flexible</a:t>
            </a:r>
            <a:endParaRPr sz="2000" b="1" i="0" dirty="0">
              <a:solidFill>
                <a:srgbClr val="FFFFFF"/>
              </a:solidFill>
            </a:endParaRPr>
          </a:p>
        </p:txBody>
      </p:sp>
      <p:pic>
        <p:nvPicPr>
          <p:cNvPr id="42" name="Graphic 41" descr="Database with solid fill">
            <a:extLst>
              <a:ext uri="{FF2B5EF4-FFF2-40B4-BE49-F238E27FC236}">
                <a16:creationId xmlns:a16="http://schemas.microsoft.com/office/drawing/2014/main" id="{9D90728A-7057-E42F-A6B1-0FAAFE2B5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86661" y="1767019"/>
            <a:ext cx="689403" cy="68940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7DB9016B-1652-7C16-5D24-6CDE1B20C165}"/>
              </a:ext>
            </a:extLst>
          </p:cNvPr>
          <p:cNvSpPr txBox="1"/>
          <p:nvPr/>
        </p:nvSpPr>
        <p:spPr>
          <a:xfrm>
            <a:off x="2526303" y="2498992"/>
            <a:ext cx="1232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Geodatabase</a:t>
            </a:r>
            <a:endParaRPr lang="en-NL" sz="1400" dirty="0">
              <a:solidFill>
                <a:schemeClr val="bg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5CA65C3-EE62-3F98-5746-D2CBC3C22C46}"/>
              </a:ext>
            </a:extLst>
          </p:cNvPr>
          <p:cNvSpPr/>
          <p:nvPr/>
        </p:nvSpPr>
        <p:spPr>
          <a:xfrm>
            <a:off x="3546428" y="3241279"/>
            <a:ext cx="1680418" cy="393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Catalogue</a:t>
            </a:r>
            <a:endParaRPr lang="en-NL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4F0FBD2-0800-77A9-9BDB-98F0FCAAB84F}"/>
              </a:ext>
            </a:extLst>
          </p:cNvPr>
          <p:cNvSpPr/>
          <p:nvPr/>
        </p:nvSpPr>
        <p:spPr>
          <a:xfrm>
            <a:off x="5830782" y="2968742"/>
            <a:ext cx="1680418" cy="393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Planner</a:t>
            </a:r>
            <a:endParaRPr lang="en-NL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9A29178-C24E-1257-483F-80679005C8A5}"/>
              </a:ext>
            </a:extLst>
          </p:cNvPr>
          <p:cNvSpPr/>
          <p:nvPr/>
        </p:nvSpPr>
        <p:spPr>
          <a:xfrm>
            <a:off x="6203533" y="3956171"/>
            <a:ext cx="1673378" cy="393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Orchestrator</a:t>
            </a:r>
            <a:endParaRPr lang="en-NL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DE4F4F2-2E45-49FE-CF2B-9C8EE5CF452D}"/>
              </a:ext>
            </a:extLst>
          </p:cNvPr>
          <p:cNvSpPr/>
          <p:nvPr/>
        </p:nvSpPr>
        <p:spPr>
          <a:xfrm>
            <a:off x="5890275" y="4943157"/>
            <a:ext cx="1673378" cy="393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Sanitizer</a:t>
            </a:r>
            <a:endParaRPr lang="en-NL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CCD4686-89A5-AD5C-BE05-939371971E58}"/>
              </a:ext>
            </a:extLst>
          </p:cNvPr>
          <p:cNvSpPr/>
          <p:nvPr/>
        </p:nvSpPr>
        <p:spPr>
          <a:xfrm>
            <a:off x="5013080" y="5733426"/>
            <a:ext cx="1680419" cy="393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Executer</a:t>
            </a:r>
            <a:endParaRPr lang="en-NL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656B127-AF06-BF4F-EFC0-90CB7098F0D8}"/>
              </a:ext>
            </a:extLst>
          </p:cNvPr>
          <p:cNvSpPr txBox="1"/>
          <p:nvPr/>
        </p:nvSpPr>
        <p:spPr>
          <a:xfrm>
            <a:off x="5057087" y="1549801"/>
            <a:ext cx="107593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GeoAI</a:t>
            </a:r>
            <a:endParaRPr lang="en-NL" sz="2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8ED1767-4E60-AD88-45A0-5EC087B5B7CA}"/>
              </a:ext>
            </a:extLst>
          </p:cNvPr>
          <p:cNvSpPr/>
          <p:nvPr/>
        </p:nvSpPr>
        <p:spPr>
          <a:xfrm>
            <a:off x="3624588" y="4549723"/>
            <a:ext cx="1680419" cy="393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And many more</a:t>
            </a:r>
            <a:endParaRPr lang="en-NL" dirty="0"/>
          </a:p>
        </p:txBody>
      </p:sp>
      <p:pic>
        <p:nvPicPr>
          <p:cNvPr id="62" name="Graphic 61" descr="Open folder with solid fill">
            <a:extLst>
              <a:ext uri="{FF2B5EF4-FFF2-40B4-BE49-F238E27FC236}">
                <a16:creationId xmlns:a16="http://schemas.microsoft.com/office/drawing/2014/main" id="{A11ADD8E-C445-A146-4F55-CCAB9192C0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13059" y="5401604"/>
            <a:ext cx="486671" cy="48667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67D844EA-0B1C-F835-2639-77A754587EBA}"/>
              </a:ext>
            </a:extLst>
          </p:cNvPr>
          <p:cNvSpPr txBox="1"/>
          <p:nvPr/>
        </p:nvSpPr>
        <p:spPr>
          <a:xfrm>
            <a:off x="2152956" y="5880778"/>
            <a:ext cx="999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File System</a:t>
            </a:r>
            <a:endParaRPr lang="en-NL" sz="1400" dirty="0">
              <a:solidFill>
                <a:schemeClr val="bg1"/>
              </a:solidFill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69FA12C-235D-CCAE-D676-B8A86BE84E6E}"/>
              </a:ext>
            </a:extLst>
          </p:cNvPr>
          <p:cNvCxnSpPr>
            <a:cxnSpLocks/>
          </p:cNvCxnSpPr>
          <p:nvPr/>
        </p:nvCxnSpPr>
        <p:spPr>
          <a:xfrm>
            <a:off x="3512461" y="2396198"/>
            <a:ext cx="534170" cy="220039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AA91560-F83E-A659-AEBB-9B30A6797C85}"/>
              </a:ext>
            </a:extLst>
          </p:cNvPr>
          <p:cNvCxnSpPr>
            <a:cxnSpLocks/>
          </p:cNvCxnSpPr>
          <p:nvPr/>
        </p:nvCxnSpPr>
        <p:spPr>
          <a:xfrm flipV="1">
            <a:off x="2938188" y="5265270"/>
            <a:ext cx="645382" cy="53807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4" name="Graphic 73" descr="Cloud with solid fill">
            <a:extLst>
              <a:ext uri="{FF2B5EF4-FFF2-40B4-BE49-F238E27FC236}">
                <a16:creationId xmlns:a16="http://schemas.microsoft.com/office/drawing/2014/main" id="{3A8CF75E-EA4F-6D54-E5BC-59B10226AF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50282" y="1031765"/>
            <a:ext cx="663074" cy="663074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0E4ACFF6-F8DA-71D6-73D3-3008AC5E9C2F}"/>
              </a:ext>
            </a:extLst>
          </p:cNvPr>
          <p:cNvSpPr txBox="1"/>
          <p:nvPr/>
        </p:nvSpPr>
        <p:spPr>
          <a:xfrm>
            <a:off x="6774939" y="1604440"/>
            <a:ext cx="1779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External Data 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39E2880-F53B-693C-76EA-3BC7BA01E284}"/>
              </a:ext>
            </a:extLst>
          </p:cNvPr>
          <p:cNvCxnSpPr>
            <a:cxnSpLocks/>
          </p:cNvCxnSpPr>
          <p:nvPr/>
        </p:nvCxnSpPr>
        <p:spPr>
          <a:xfrm flipH="1">
            <a:off x="6569246" y="1960116"/>
            <a:ext cx="417792" cy="387387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A4BA8BCE-6705-D318-3F00-2DAED671ECAA}"/>
              </a:ext>
            </a:extLst>
          </p:cNvPr>
          <p:cNvSpPr txBox="1"/>
          <p:nvPr/>
        </p:nvSpPr>
        <p:spPr>
          <a:xfrm>
            <a:off x="7418062" y="6191627"/>
            <a:ext cx="11276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Task Board 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E69C61D9-6703-AFC6-1F7D-5745E8AF1D8D}"/>
              </a:ext>
            </a:extLst>
          </p:cNvPr>
          <p:cNvCxnSpPr>
            <a:cxnSpLocks/>
          </p:cNvCxnSpPr>
          <p:nvPr/>
        </p:nvCxnSpPr>
        <p:spPr>
          <a:xfrm flipH="1" flipV="1">
            <a:off x="7146599" y="5609667"/>
            <a:ext cx="462307" cy="21656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7" name="Graphic 86" descr="Chat bubble with solid fill">
            <a:extLst>
              <a:ext uri="{FF2B5EF4-FFF2-40B4-BE49-F238E27FC236}">
                <a16:creationId xmlns:a16="http://schemas.microsoft.com/office/drawing/2014/main" id="{7AA5BEBA-6CE8-77D1-4647-ED3A67149EF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71000" y="2239539"/>
            <a:ext cx="689403" cy="689403"/>
          </a:xfrm>
          <a:prstGeom prst="rect">
            <a:avLst/>
          </a:prstGeom>
        </p:spPr>
      </p:pic>
      <p:pic>
        <p:nvPicPr>
          <p:cNvPr id="90" name="Graphic 89" descr="Map with pin with solid fill">
            <a:extLst>
              <a:ext uri="{FF2B5EF4-FFF2-40B4-BE49-F238E27FC236}">
                <a16:creationId xmlns:a16="http://schemas.microsoft.com/office/drawing/2014/main" id="{C886CDD1-CB2F-82D7-D818-E6EA24F5F6F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45189" y="3196926"/>
            <a:ext cx="686913" cy="686913"/>
          </a:xfrm>
          <a:prstGeom prst="rect">
            <a:avLst/>
          </a:prstGeom>
        </p:spPr>
      </p:pic>
      <p:sp>
        <p:nvSpPr>
          <p:cNvPr id="91" name="Rectangle 90">
            <a:extLst>
              <a:ext uri="{FF2B5EF4-FFF2-40B4-BE49-F238E27FC236}">
                <a16:creationId xmlns:a16="http://schemas.microsoft.com/office/drawing/2014/main" id="{B9C6A421-15C9-84E7-9F25-384EA8B1547F}"/>
              </a:ext>
            </a:extLst>
          </p:cNvPr>
          <p:cNvSpPr/>
          <p:nvPr/>
        </p:nvSpPr>
        <p:spPr>
          <a:xfrm>
            <a:off x="618431" y="3686529"/>
            <a:ext cx="1864182" cy="4530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User chats in NL 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5E5FA53B-AC97-7CF6-F8D8-03B6EB4C8DF9}"/>
              </a:ext>
            </a:extLst>
          </p:cNvPr>
          <p:cNvCxnSpPr>
            <a:cxnSpLocks/>
          </p:cNvCxnSpPr>
          <p:nvPr/>
        </p:nvCxnSpPr>
        <p:spPr>
          <a:xfrm flipV="1">
            <a:off x="2819334" y="3863853"/>
            <a:ext cx="1567303" cy="36014"/>
          </a:xfrm>
          <a:prstGeom prst="straightConnector1">
            <a:avLst/>
          </a:prstGeom>
          <a:ln w="76200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56CC52F-26C0-E4F3-6BBB-A26EDB5E0B10}"/>
              </a:ext>
            </a:extLst>
          </p:cNvPr>
          <p:cNvCxnSpPr>
            <a:cxnSpLocks/>
          </p:cNvCxnSpPr>
          <p:nvPr/>
        </p:nvCxnSpPr>
        <p:spPr>
          <a:xfrm flipV="1">
            <a:off x="6582345" y="3762335"/>
            <a:ext cx="1294566" cy="15084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6" name="Graphic 95" descr="Document with solid fill">
            <a:extLst>
              <a:ext uri="{FF2B5EF4-FFF2-40B4-BE49-F238E27FC236}">
                <a16:creationId xmlns:a16="http://schemas.microsoft.com/office/drawing/2014/main" id="{A227F900-CC7B-5CEA-3002-988F5F1E644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15725" y="4001084"/>
            <a:ext cx="677672" cy="677672"/>
          </a:xfrm>
          <a:prstGeom prst="rect">
            <a:avLst/>
          </a:prstGeom>
        </p:spPr>
      </p:pic>
      <p:pic>
        <p:nvPicPr>
          <p:cNvPr id="98" name="Graphic 97" descr="Questions with solid fill">
            <a:extLst>
              <a:ext uri="{FF2B5EF4-FFF2-40B4-BE49-F238E27FC236}">
                <a16:creationId xmlns:a16="http://schemas.microsoft.com/office/drawing/2014/main" id="{80AA492A-521A-870D-261E-8051435FBB9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485558" y="4727247"/>
            <a:ext cx="738005" cy="738005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407C4910-3B82-007E-90A4-AF2CD69E4A54}"/>
              </a:ext>
            </a:extLst>
          </p:cNvPr>
          <p:cNvSpPr txBox="1"/>
          <p:nvPr/>
        </p:nvSpPr>
        <p:spPr>
          <a:xfrm>
            <a:off x="9281374" y="3414624"/>
            <a:ext cx="2060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Create/Update Map</a:t>
            </a:r>
            <a:endParaRPr lang="en-NL" dirty="0">
              <a:solidFill>
                <a:schemeClr val="bg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48A9118-A70E-18C3-7215-1EEB476B977E}"/>
              </a:ext>
            </a:extLst>
          </p:cNvPr>
          <p:cNvSpPr txBox="1"/>
          <p:nvPr/>
        </p:nvSpPr>
        <p:spPr>
          <a:xfrm>
            <a:off x="9035313" y="4859384"/>
            <a:ext cx="2344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Answers Questions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04" name="Graphic 103" descr="Clipboard Mixed with solid fill">
            <a:extLst>
              <a:ext uri="{FF2B5EF4-FFF2-40B4-BE49-F238E27FC236}">
                <a16:creationId xmlns:a16="http://schemas.microsoft.com/office/drawing/2014/main" id="{98A93763-707C-0F2E-9E71-EF13D864081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608906" y="5399939"/>
            <a:ext cx="706831" cy="706831"/>
          </a:xfrm>
          <a:prstGeom prst="rect">
            <a:avLst/>
          </a:prstGeom>
        </p:spPr>
      </p:pic>
      <p:pic>
        <p:nvPicPr>
          <p:cNvPr id="106" name="Graphic 105" descr="Male profile with solid fill">
            <a:extLst>
              <a:ext uri="{FF2B5EF4-FFF2-40B4-BE49-F238E27FC236}">
                <a16:creationId xmlns:a16="http://schemas.microsoft.com/office/drawing/2014/main" id="{1FAF4F0D-AEBB-CD3D-EA1F-9A93994EBBF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96306" y="2871777"/>
            <a:ext cx="770455" cy="77045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D2E0630-B8E1-CE76-E03C-A25192663135}"/>
              </a:ext>
            </a:extLst>
          </p:cNvPr>
          <p:cNvSpPr/>
          <p:nvPr/>
        </p:nvSpPr>
        <p:spPr>
          <a:xfrm>
            <a:off x="4795593" y="2000747"/>
            <a:ext cx="1680418" cy="3934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Agents</a:t>
            </a:r>
            <a:endParaRPr lang="en-N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0AD6E4-A6A8-5B16-F1E2-8097AE1CB7EE}"/>
              </a:ext>
            </a:extLst>
          </p:cNvPr>
          <p:cNvSpPr txBox="1"/>
          <p:nvPr/>
        </p:nvSpPr>
        <p:spPr>
          <a:xfrm rot="19768411">
            <a:off x="4115629" y="3806905"/>
            <a:ext cx="2501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Connect agents together</a:t>
            </a:r>
          </a:p>
          <a:p>
            <a:r>
              <a:rPr lang="en-US" dirty="0">
                <a:solidFill>
                  <a:srgbClr val="FF0000"/>
                </a:solidFill>
              </a:rPr>
              <a:t>To show collaboration</a:t>
            </a:r>
            <a:endParaRPr lang="en-NL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55107"/>
            <a:ext cx="10908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solidFill>
                  <a:srgbClr val="4FC3F7"/>
                </a:solidFill>
              </a:rPr>
              <a:t>The Offer</a:t>
            </a:r>
            <a:endParaRPr sz="3200" b="1" i="0" dirty="0">
              <a:solidFill>
                <a:srgbClr val="4FC3F7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2549" y="1238451"/>
            <a:ext cx="114084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We are offering a limited number of Pilot Programs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38BA2C-1402-571B-039A-A182E5A7BE37}"/>
              </a:ext>
            </a:extLst>
          </p:cNvPr>
          <p:cNvSpPr txBox="1"/>
          <p:nvPr/>
        </p:nvSpPr>
        <p:spPr>
          <a:xfrm>
            <a:off x="1430767" y="2291379"/>
            <a:ext cx="73117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 Months Pilot  						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bg1"/>
                </a:solidFill>
              </a:rPr>
              <a:t> 12 months post pilot license</a:t>
            </a:r>
          </a:p>
          <a:p>
            <a:endParaRPr lang="en-NL" dirty="0">
              <a:solidFill>
                <a:schemeClr val="bg1"/>
              </a:solidFill>
            </a:endParaRPr>
          </a:p>
        </p:txBody>
      </p:sp>
      <p:pic>
        <p:nvPicPr>
          <p:cNvPr id="38" name="Graphic 37" descr="Checkmark with solid fill">
            <a:extLst>
              <a:ext uri="{FF2B5EF4-FFF2-40B4-BE49-F238E27FC236}">
                <a16:creationId xmlns:a16="http://schemas.microsoft.com/office/drawing/2014/main" id="{17E34A59-6621-D056-3990-0B255A88E3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2148" y="2225359"/>
            <a:ext cx="457200" cy="4572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3068279-199B-C8C3-BA67-2FE84AAABC62}"/>
              </a:ext>
            </a:extLst>
          </p:cNvPr>
          <p:cNvSpPr txBox="1"/>
          <p:nvPr/>
        </p:nvSpPr>
        <p:spPr>
          <a:xfrm>
            <a:off x="1430767" y="2937710"/>
            <a:ext cx="8096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 Implementation effort from your side 	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bg1"/>
                </a:solidFill>
              </a:rPr>
              <a:t> We will implement it on your system</a:t>
            </a:r>
            <a:endParaRPr lang="en-NL" dirty="0">
              <a:solidFill>
                <a:schemeClr val="bg1"/>
              </a:solidFill>
            </a:endParaRPr>
          </a:p>
        </p:txBody>
      </p:sp>
      <p:pic>
        <p:nvPicPr>
          <p:cNvPr id="40" name="Graphic 39" descr="Checkmark with solid fill">
            <a:extLst>
              <a:ext uri="{FF2B5EF4-FFF2-40B4-BE49-F238E27FC236}">
                <a16:creationId xmlns:a16="http://schemas.microsoft.com/office/drawing/2014/main" id="{B1418183-E0EF-EBF2-5253-12D322EC02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2148" y="2834959"/>
            <a:ext cx="457200" cy="4572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E4C0A5D-B1C7-2BBD-DBCB-A262E35EE241}"/>
              </a:ext>
            </a:extLst>
          </p:cNvPr>
          <p:cNvSpPr txBox="1"/>
          <p:nvPr/>
        </p:nvSpPr>
        <p:spPr>
          <a:xfrm>
            <a:off x="1430767" y="3584041"/>
            <a:ext cx="5677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 data leaves your organization		 	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bg1"/>
                </a:solidFill>
              </a:rPr>
              <a:t> 100% safe. </a:t>
            </a:r>
            <a:endParaRPr lang="en-NL" dirty="0">
              <a:solidFill>
                <a:schemeClr val="bg1"/>
              </a:solidFill>
            </a:endParaRPr>
          </a:p>
        </p:txBody>
      </p:sp>
      <p:pic>
        <p:nvPicPr>
          <p:cNvPr id="42" name="Graphic 41" descr="Checkmark with solid fill">
            <a:extLst>
              <a:ext uri="{FF2B5EF4-FFF2-40B4-BE49-F238E27FC236}">
                <a16:creationId xmlns:a16="http://schemas.microsoft.com/office/drawing/2014/main" id="{90DD8311-DFAC-E390-390A-5669D4434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2148" y="3481290"/>
            <a:ext cx="457200" cy="45720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7078CF1A-31D0-DD9E-17FE-C914C4258B77}"/>
              </a:ext>
            </a:extLst>
          </p:cNvPr>
          <p:cNvSpPr txBox="1"/>
          <p:nvPr/>
        </p:nvSpPr>
        <p:spPr>
          <a:xfrm>
            <a:off x="1430767" y="4230372"/>
            <a:ext cx="7928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 commitment from you 				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bg1"/>
                </a:solidFill>
              </a:rPr>
              <a:t> NO vendor lock-in. Cancel anytime</a:t>
            </a:r>
            <a:endParaRPr lang="en-NL" dirty="0">
              <a:solidFill>
                <a:schemeClr val="bg1"/>
              </a:solidFill>
            </a:endParaRPr>
          </a:p>
        </p:txBody>
      </p:sp>
      <p:pic>
        <p:nvPicPr>
          <p:cNvPr id="44" name="Graphic 43" descr="Checkmark with solid fill">
            <a:extLst>
              <a:ext uri="{FF2B5EF4-FFF2-40B4-BE49-F238E27FC236}">
                <a16:creationId xmlns:a16="http://schemas.microsoft.com/office/drawing/2014/main" id="{590A51A4-7BB5-BB3F-D168-673B2A6E3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2148" y="4127621"/>
            <a:ext cx="457200" cy="4572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5AD2AB1E-274E-A744-1197-F8D626AB4B87}"/>
              </a:ext>
            </a:extLst>
          </p:cNvPr>
          <p:cNvSpPr txBox="1"/>
          <p:nvPr/>
        </p:nvSpPr>
        <p:spPr>
          <a:xfrm>
            <a:off x="1430767" y="4938868"/>
            <a:ext cx="9792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Minimum requirement 					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bg1"/>
                </a:solidFill>
              </a:rPr>
              <a:t> Just read access to a geodatabase. Works with any GPU!</a:t>
            </a:r>
            <a:endParaRPr lang="en-NL" dirty="0">
              <a:solidFill>
                <a:schemeClr val="bg1"/>
              </a:solidFill>
            </a:endParaRPr>
          </a:p>
        </p:txBody>
      </p:sp>
      <p:pic>
        <p:nvPicPr>
          <p:cNvPr id="46" name="Graphic 45" descr="Checkmark with solid fill">
            <a:extLst>
              <a:ext uri="{FF2B5EF4-FFF2-40B4-BE49-F238E27FC236}">
                <a16:creationId xmlns:a16="http://schemas.microsoft.com/office/drawing/2014/main" id="{BE32C5FB-7A28-0E91-7053-52D909F9C8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2148" y="4836117"/>
            <a:ext cx="457200" cy="457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1EAD63-3377-D3DC-94A8-0FD88F7EF4BC}"/>
              </a:ext>
            </a:extLst>
          </p:cNvPr>
          <p:cNvSpPr txBox="1"/>
          <p:nvPr/>
        </p:nvSpPr>
        <p:spPr>
          <a:xfrm>
            <a:off x="1774753" y="5631298"/>
            <a:ext cx="1408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Call to action</a:t>
            </a:r>
            <a:endParaRPr lang="en-NL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0E54116-5F8C-356A-B9C7-CE40CC7F5FDD}"/>
              </a:ext>
            </a:extLst>
          </p:cNvPr>
          <p:cNvSpPr/>
          <p:nvPr/>
        </p:nvSpPr>
        <p:spPr>
          <a:xfrm>
            <a:off x="666974" y="4426499"/>
            <a:ext cx="10854465" cy="2096317"/>
          </a:xfrm>
          <a:prstGeom prst="rect">
            <a:avLst/>
          </a:prstGeom>
          <a:solidFill>
            <a:srgbClr val="081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9" name="Picture 8" descr="A blue and white logo&#10;&#10;AI-generated content may be incorrect.">
            <a:extLst>
              <a:ext uri="{FF2B5EF4-FFF2-40B4-BE49-F238E27FC236}">
                <a16:creationId xmlns:a16="http://schemas.microsoft.com/office/drawing/2014/main" id="{A0272BF5-C63F-323A-5090-E002511E79C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2120576" y="4445014"/>
            <a:ext cx="3867819" cy="209631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276165" y="1217484"/>
            <a:ext cx="33832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 dirty="0" err="1">
                <a:solidFill>
                  <a:srgbClr val="7A90B0"/>
                </a:solidFill>
              </a:rPr>
              <a:t>GeoAI</a:t>
            </a:r>
            <a:r>
              <a:rPr sz="6000" b="0" i="0" dirty="0">
                <a:solidFill>
                  <a:srgbClr val="7A90B0"/>
                </a:solidFill>
              </a:rPr>
              <a:t>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88395" y="1975104"/>
            <a:ext cx="184730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 dirty="0">
                <a:solidFill>
                  <a:srgbClr val="FFFFFF"/>
                </a:solidFill>
              </a:rPr>
              <a:t>
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5052" y="2697480"/>
            <a:ext cx="9898864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3000" b="1" dirty="0">
                <a:solidFill>
                  <a:srgbClr val="4FC3F7"/>
                </a:solidFill>
              </a:rPr>
              <a:t>GIS Organizational Brain that knows your data and processes</a:t>
            </a:r>
          </a:p>
          <a:p>
            <a:pPr algn="ctr"/>
            <a:r>
              <a:rPr lang="en-US" sz="3000" b="1" dirty="0">
                <a:solidFill>
                  <a:srgbClr val="4FC3F7"/>
                </a:solidFill>
              </a:rPr>
              <a:t>Like that senior who is running everything for 15 years</a:t>
            </a:r>
            <a:endParaRPr sz="3000" b="1" dirty="0">
              <a:solidFill>
                <a:srgbClr val="4FC3F7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600" y="3749039"/>
            <a:ext cx="94457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B0B8CC"/>
                </a:solidFill>
              </a:rPr>
              <a:t>On-premise AI for geospatial data. </a:t>
            </a:r>
            <a:endParaRPr lang="en-US" sz="1600" b="0" i="0" dirty="0">
              <a:solidFill>
                <a:srgbClr val="B0B8CC"/>
              </a:solidFill>
            </a:endParaRPr>
          </a:p>
          <a:p>
            <a:pPr algn="ctr"/>
            <a:r>
              <a:rPr sz="1600" b="0" i="0" dirty="0">
                <a:solidFill>
                  <a:srgbClr val="B0B8CC"/>
                </a:solidFill>
              </a:rPr>
              <a:t>Built </a:t>
            </a:r>
            <a:r>
              <a:rPr sz="1600" b="0" i="0">
                <a:solidFill>
                  <a:srgbClr val="B0B8CC"/>
                </a:solidFill>
              </a:rPr>
              <a:t>for EU </a:t>
            </a:r>
            <a:r>
              <a:rPr sz="1600" b="0" i="0" dirty="0">
                <a:solidFill>
                  <a:srgbClr val="B0B8CC"/>
                </a:solidFill>
              </a:rPr>
              <a:t>government data sovereignty.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199397-B8CB-645F-55C2-C44222EDD815}"/>
              </a:ext>
            </a:extLst>
          </p:cNvPr>
          <p:cNvSpPr txBox="1"/>
          <p:nvPr/>
        </p:nvSpPr>
        <p:spPr>
          <a:xfrm>
            <a:off x="4905228" y="6508046"/>
            <a:ext cx="1408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Call to action</a:t>
            </a:r>
            <a:endParaRPr lang="en-NL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0E632F-8567-0D9A-0532-53B556EFC07A}"/>
              </a:ext>
            </a:extLst>
          </p:cNvPr>
          <p:cNvSpPr txBox="1"/>
          <p:nvPr/>
        </p:nvSpPr>
        <p:spPr>
          <a:xfrm>
            <a:off x="6832640" y="5447419"/>
            <a:ext cx="800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Footer</a:t>
            </a:r>
            <a:endParaRPr lang="en-NL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 person standing with his arms crossed&#10;&#10;AI-generated content may be incorrect.">
            <a:extLst>
              <a:ext uri="{FF2B5EF4-FFF2-40B4-BE49-F238E27FC236}">
                <a16:creationId xmlns:a16="http://schemas.microsoft.com/office/drawing/2014/main" id="{21E85B3A-5520-F2A5-1122-86434BDEC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168" y="564269"/>
            <a:ext cx="3185484" cy="3185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 person sitting at a desk&#10;&#10;AI-generated content may be incorrect.">
            <a:extLst>
              <a:ext uri="{FF2B5EF4-FFF2-40B4-BE49-F238E27FC236}">
                <a16:creationId xmlns:a16="http://schemas.microsoft.com/office/drawing/2014/main" id="{48244696-71F8-F5A7-3053-A1DD017856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31"/>
          <a:stretch>
            <a:fillRect/>
          </a:stretch>
        </p:blipFill>
        <p:spPr bwMode="auto">
          <a:xfrm>
            <a:off x="4914900" y="564268"/>
            <a:ext cx="3332652" cy="3190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40080" y="502920"/>
            <a:ext cx="10908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solidFill>
                  <a:srgbClr val="4FC3F7"/>
                </a:solidFill>
              </a:rPr>
              <a:t>Who are we?</a:t>
            </a:r>
            <a:endParaRPr sz="3200" b="1" i="0" dirty="0">
              <a:solidFill>
                <a:srgbClr val="4FC3F7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12284" y="142927"/>
            <a:ext cx="2095896" cy="461665"/>
          </a:xfrm>
          <a:prstGeom prst="rect">
            <a:avLst/>
          </a:prstGeom>
          <a:solidFill>
            <a:srgbClr val="B0B8CC"/>
          </a:solidFill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Adrian Akbari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12284" y="585708"/>
            <a:ext cx="1601044" cy="338554"/>
          </a:xfrm>
          <a:prstGeom prst="rect">
            <a:avLst/>
          </a:prstGeom>
          <a:solidFill>
            <a:srgbClr val="B0B8CC"/>
          </a:solidFill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chemeClr val="tx2"/>
                </a:solidFill>
              </a:rPr>
              <a:t>Founder &amp; CEO</a:t>
            </a:r>
            <a:r>
              <a:rPr lang="en-US" sz="1600" b="0" i="0" dirty="0">
                <a:solidFill>
                  <a:schemeClr val="tx2"/>
                </a:solidFill>
              </a:rPr>
              <a:t> </a:t>
            </a:r>
            <a:endParaRPr sz="1600" b="0" i="0" dirty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06892" y="3029675"/>
            <a:ext cx="3332652" cy="738664"/>
          </a:xfrm>
          <a:prstGeom prst="rect">
            <a:avLst/>
          </a:prstGeom>
          <a:solidFill>
            <a:srgbClr val="B0B8CC"/>
          </a:solidFill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bg1"/>
                </a:solidFill>
              </a:rPr>
              <a:t>GIS architect</a:t>
            </a:r>
            <a:r>
              <a:rPr lang="en-US" sz="1400" b="0" i="0" dirty="0">
                <a:solidFill>
                  <a:schemeClr val="bg1"/>
                </a:solidFill>
              </a:rPr>
              <a:t> and developer</a:t>
            </a:r>
            <a:r>
              <a:rPr sz="1400" b="0" i="0" dirty="0">
                <a:solidFill>
                  <a:schemeClr val="bg1"/>
                </a:solidFill>
              </a:rPr>
              <a:t> with </a:t>
            </a:r>
            <a:r>
              <a:rPr lang="en-US" sz="1400" b="0" i="0" dirty="0">
                <a:solidFill>
                  <a:schemeClr val="bg1"/>
                </a:solidFill>
              </a:rPr>
              <a:t>+ 10 years  of experience d</a:t>
            </a:r>
            <a:r>
              <a:rPr sz="1400" b="0" i="0" dirty="0">
                <a:solidFill>
                  <a:schemeClr val="bg1"/>
                </a:solidFill>
              </a:rPr>
              <a:t>esign</a:t>
            </a:r>
            <a:r>
              <a:rPr lang="en-US" sz="1400" b="0" i="0" dirty="0">
                <a:solidFill>
                  <a:schemeClr val="bg1"/>
                </a:solidFill>
              </a:rPr>
              <a:t>ing</a:t>
            </a:r>
            <a:r>
              <a:rPr sz="1400" b="0" i="0" dirty="0">
                <a:solidFill>
                  <a:schemeClr val="bg1"/>
                </a:solidFill>
              </a:rPr>
              <a:t> enterprise geo-systems</a:t>
            </a:r>
            <a:r>
              <a:rPr lang="en-US" sz="1400" b="0" i="0" dirty="0">
                <a:solidFill>
                  <a:schemeClr val="bg1"/>
                </a:solidFill>
              </a:rPr>
              <a:t> and applications</a:t>
            </a:r>
            <a:endParaRPr sz="1400" b="0" i="0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19734" y="142927"/>
            <a:ext cx="2724912" cy="461665"/>
          </a:xfrm>
          <a:prstGeom prst="rect">
            <a:avLst/>
          </a:prstGeom>
          <a:solidFill>
            <a:srgbClr val="B0B8CC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solidFill>
                  <a:srgbClr val="FFFFFF"/>
                </a:solidFill>
              </a:rPr>
              <a:t>Soheil Setayeshi</a:t>
            </a:r>
            <a:endParaRPr sz="2400" b="1" i="0" dirty="0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50041" y="2801940"/>
            <a:ext cx="3185484" cy="954107"/>
          </a:xfrm>
          <a:prstGeom prst="rect">
            <a:avLst/>
          </a:prstGeom>
          <a:solidFill>
            <a:srgbClr val="B0B8CC"/>
          </a:solidFill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chemeClr val="bg1"/>
                </a:solidFill>
              </a:rPr>
              <a:t>15 years of experience. </a:t>
            </a:r>
          </a:p>
          <a:p>
            <a:pPr algn="l"/>
            <a:r>
              <a:rPr lang="en-US" sz="1400" b="0" i="0" dirty="0">
                <a:solidFill>
                  <a:schemeClr val="bg1"/>
                </a:solidFill>
              </a:rPr>
              <a:t>Engineering director of Neshan Maps. A national navigation app with 30 million users.</a:t>
            </a:r>
            <a:endParaRPr sz="1400" b="0" i="0" dirty="0">
              <a:solidFill>
                <a:schemeClr val="bg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99776" y="3957260"/>
            <a:ext cx="11364166" cy="2719414"/>
          </a:xfrm>
          <a:prstGeom prst="rect">
            <a:avLst/>
          </a:prstGeom>
          <a:solidFill>
            <a:srgbClr val="14203A"/>
          </a:solidFill>
          <a:ln w="9525">
            <a:solidFill>
              <a:srgbClr val="25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4882" y="3999018"/>
            <a:ext cx="1133906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600" b="1" dirty="0">
                <a:solidFill>
                  <a:srgbClr val="B0B8CC"/>
                </a:solidFill>
              </a:rPr>
              <a:t> We are the user. We are the market</a:t>
            </a:r>
          </a:p>
          <a:p>
            <a:r>
              <a:rPr lang="en-US" sz="1600" dirty="0">
                <a:solidFill>
                  <a:srgbClr val="B0B8CC"/>
                </a:solidFill>
              </a:rPr>
              <a:t> We designed  GIS systems for municipalities, water boards, provinces, ministries, utilities, and consultancy firms. We didn't discover geospatial data from the AI side — we built the workflows our product now automates. We know exactly where analysts lose three hours a day, and why.</a:t>
            </a:r>
          </a:p>
          <a:p>
            <a:endParaRPr lang="en-US" sz="1600" dirty="0">
              <a:solidFill>
                <a:srgbClr val="B0B8CC"/>
              </a:solidFill>
            </a:endParaRPr>
          </a:p>
          <a:p>
            <a:r>
              <a:rPr lang="en-US" sz="1600" b="1" dirty="0">
                <a:solidFill>
                  <a:srgbClr val="B0B8CC"/>
                </a:solidFill>
              </a:rPr>
              <a:t>-      We know the competition from the inside.</a:t>
            </a:r>
          </a:p>
          <a:p>
            <a:r>
              <a:rPr lang="en-US" sz="1600" dirty="0">
                <a:solidFill>
                  <a:srgbClr val="B0B8CC"/>
                </a:solidFill>
              </a:rPr>
              <a:t>We have deployed, extended, and worked around Esri, </a:t>
            </a:r>
            <a:r>
              <a:rPr lang="en-US" sz="1600" dirty="0" err="1">
                <a:solidFill>
                  <a:srgbClr val="B0B8CC"/>
                </a:solidFill>
              </a:rPr>
              <a:t>VertiGIS</a:t>
            </a:r>
            <a:r>
              <a:rPr lang="en-US" sz="1600" dirty="0">
                <a:solidFill>
                  <a:srgbClr val="B0B8CC"/>
                </a:solidFill>
              </a:rPr>
              <a:t>, QGIS, and every major GIS stack . We know their technical details and their limitations.  </a:t>
            </a:r>
            <a:endParaRPr sz="1600" i="0" dirty="0">
              <a:solidFill>
                <a:srgbClr val="B0B8CC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24882" y="3565087"/>
            <a:ext cx="9106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</a:rPr>
              <a:t>Why </a:t>
            </a:r>
            <a:r>
              <a:rPr lang="en-US" b="1" i="0" dirty="0">
                <a:solidFill>
                  <a:srgbClr val="FFFFFF"/>
                </a:solidFill>
              </a:rPr>
              <a:t>Us?</a:t>
            </a:r>
            <a:endParaRPr b="1" i="0" dirty="0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054552"/>
            <a:ext cx="39880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FFFFFF"/>
                </a:solidFill>
              </a:rPr>
              <a:t>Domain Experts in </a:t>
            </a:r>
          </a:p>
          <a:p>
            <a:pPr algn="l"/>
            <a:r>
              <a:rPr lang="en-US" sz="3000" b="1" i="0" dirty="0">
                <a:solidFill>
                  <a:srgbClr val="FFFFFF"/>
                </a:solidFill>
              </a:rPr>
              <a:t>GIS + AI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570850-A7FC-718A-E6BA-8A21911FD807}"/>
              </a:ext>
            </a:extLst>
          </p:cNvPr>
          <p:cNvSpPr txBox="1"/>
          <p:nvPr/>
        </p:nvSpPr>
        <p:spPr>
          <a:xfrm>
            <a:off x="8419734" y="604985"/>
            <a:ext cx="767298" cy="461665"/>
          </a:xfrm>
          <a:prstGeom prst="rect">
            <a:avLst/>
          </a:prstGeom>
          <a:solidFill>
            <a:srgbClr val="B0B8CC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solidFill>
                  <a:schemeClr val="tx2"/>
                </a:solidFill>
              </a:rPr>
              <a:t>CTO</a:t>
            </a:r>
            <a:endParaRPr sz="2400" b="0" i="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FA1A53-1952-2C49-B042-94B68B9CB8AC}"/>
              </a:ext>
            </a:extLst>
          </p:cNvPr>
          <p:cNvSpPr txBox="1"/>
          <p:nvPr/>
        </p:nvSpPr>
        <p:spPr>
          <a:xfrm>
            <a:off x="559342" y="181326"/>
            <a:ext cx="1794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As a separate tab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822F7E-E6C8-12F4-FA60-0A88C4C83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B53592-00F1-8671-C0FC-397C58501988}"/>
              </a:ext>
            </a:extLst>
          </p:cNvPr>
          <p:cNvSpPr txBox="1"/>
          <p:nvPr/>
        </p:nvSpPr>
        <p:spPr>
          <a:xfrm>
            <a:off x="640080" y="502920"/>
            <a:ext cx="10908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solidFill>
                  <a:srgbClr val="4FC3F7"/>
                </a:solidFill>
              </a:rPr>
              <a:t>Mission Vision</a:t>
            </a:r>
            <a:endParaRPr sz="3200" b="1" i="0" dirty="0">
              <a:solidFill>
                <a:srgbClr val="4FC3F7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55EE5-AF96-8CE4-E057-65402729B071}"/>
              </a:ext>
            </a:extLst>
          </p:cNvPr>
          <p:cNvSpPr txBox="1"/>
          <p:nvPr/>
        </p:nvSpPr>
        <p:spPr>
          <a:xfrm>
            <a:off x="640080" y="1054552"/>
            <a:ext cx="398804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>
                <a:solidFill>
                  <a:srgbClr val="FFFFFF"/>
                </a:solidFill>
              </a:rPr>
              <a:t>We will make Europe Sovereign</a:t>
            </a:r>
          </a:p>
          <a:p>
            <a:pPr algn="l"/>
            <a:endParaRPr lang="en-US" sz="3000" b="1" i="0" dirty="0">
              <a:solidFill>
                <a:srgbClr val="FFFFFF"/>
              </a:solidFill>
            </a:endParaRPr>
          </a:p>
          <a:p>
            <a:pPr algn="l"/>
            <a:r>
              <a:rPr lang="en-US" sz="3000" b="1" dirty="0">
                <a:solidFill>
                  <a:srgbClr val="FFFFFF"/>
                </a:solidFill>
              </a:rPr>
              <a:t>We will make Europe Independent</a:t>
            </a:r>
          </a:p>
          <a:p>
            <a:pPr algn="l"/>
            <a:endParaRPr lang="en-US" sz="3000" b="1" i="0" dirty="0">
              <a:solidFill>
                <a:srgbClr val="FFFFFF"/>
              </a:solidFill>
            </a:endParaRPr>
          </a:p>
          <a:p>
            <a:pPr algn="l"/>
            <a:r>
              <a:rPr lang="en-US" sz="3000" b="1" dirty="0">
                <a:solidFill>
                  <a:srgbClr val="FFFFFF"/>
                </a:solidFill>
              </a:rPr>
              <a:t>Keep your Knowledge</a:t>
            </a:r>
          </a:p>
          <a:p>
            <a:pPr algn="l"/>
            <a:r>
              <a:rPr lang="en-US" sz="3000" b="1" i="0" dirty="0">
                <a:solidFill>
                  <a:srgbClr val="FFFFFF"/>
                </a:solidFill>
              </a:rPr>
              <a:t>Keep your Data</a:t>
            </a:r>
          </a:p>
          <a:p>
            <a:pPr algn="l"/>
            <a:r>
              <a:rPr lang="en-US" sz="3000" b="1" dirty="0">
                <a:solidFill>
                  <a:srgbClr val="FFFFFF"/>
                </a:solidFill>
              </a:rPr>
              <a:t>Keep your Sovereignty</a:t>
            </a:r>
            <a:endParaRPr lang="en-US" sz="3000" b="1" i="0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CC7821-410E-333E-262F-1DCBCDF7B5E7}"/>
              </a:ext>
            </a:extLst>
          </p:cNvPr>
          <p:cNvSpPr txBox="1"/>
          <p:nvPr/>
        </p:nvSpPr>
        <p:spPr>
          <a:xfrm>
            <a:off x="559342" y="50593"/>
            <a:ext cx="1794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As a separate tab</a:t>
            </a:r>
          </a:p>
        </p:txBody>
      </p:sp>
    </p:spTree>
    <p:extLst>
      <p:ext uri="{BB962C8B-B14F-4D97-AF65-F5344CB8AC3E}">
        <p14:creationId xmlns:p14="http://schemas.microsoft.com/office/powerpoint/2010/main" val="1114931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2197</TotalTime>
  <Words>1015</Words>
  <Application>Microsoft Office PowerPoint</Application>
  <PresentationFormat>Custom</PresentationFormat>
  <Paragraphs>226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Adrian Akbari</cp:lastModifiedBy>
  <cp:revision>122</cp:revision>
  <dcterms:created xsi:type="dcterms:W3CDTF">2013-01-27T09:14:16Z</dcterms:created>
  <dcterms:modified xsi:type="dcterms:W3CDTF">2026-10-12T10:41:15Z</dcterms:modified>
  <cp:category/>
</cp:coreProperties>
</file>